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Old Standard TT"/>
      <p:regular r:id="rId46"/>
      <p:bold r:id="rId47"/>
      <p: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OldStandardTT-regular.fnt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ldStandardTT-italic.fntdata"/><Relationship Id="rId25" Type="http://schemas.openxmlformats.org/officeDocument/2006/relationships/slide" Target="slides/slide19.xml"/><Relationship Id="rId47" Type="http://schemas.openxmlformats.org/officeDocument/2006/relationships/font" Target="fonts/OldStandardTT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698534c33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698534c33_3_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698534c33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698534c33_3_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698534c33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698534c33_3_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98534c33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698534c33_3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98534c33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698534c33_3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98534c33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698534c33_3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98534c33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698534c33_3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98534c33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698534c33_3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98534c33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698534c33_3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698534c33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698534c33_3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a3920de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a3920de0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698534c33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698534c33_3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698534c33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698534c33_3_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698534c33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698534c33_3_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698534c33_3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698534c33_3_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698534c33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698534c33_3_1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98534c33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698534c33_3_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698534c33_3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a698534c33_3_1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698534c33_3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a698534c33_3_1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698534c33_3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a698534c33_3_1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698534c33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698534c33_3_1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a3920de0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aa3920de0e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a3920de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a3920de0e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a3920de0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a3920de0e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a3920de0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aa3920de0e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a3920de0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aa3920de0e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698534c33_3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a698534c33_3_1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698534c33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698534c33_3_1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698534c33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a698534c33_3_1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698534c33_3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a698534c33_3_2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698534c33_3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a698534c33_3_2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698534c33_3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a698534c33_3_2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698534c33_3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a698534c33_3_2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698534c33_3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a698534c33_3_2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698534c33_3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a698534c33_3_2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698534c33_3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a698534c33_3_2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698534c33_3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a698534c33_3_2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698534c33_3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a698534c33_3_2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698534c33_3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a698534c33_3_2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1371600" y="2914651"/>
            <a:ext cx="6400800" cy="7156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i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D8C8C"/>
              </a:buClr>
              <a:buSzPts val="2100"/>
              <a:buNone/>
              <a:defRPr>
                <a:solidFill>
                  <a:srgbClr val="8D8C8C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D8C8C"/>
              </a:buClr>
              <a:buSzPts val="1800"/>
              <a:buNone/>
              <a:defRPr>
                <a:solidFill>
                  <a:srgbClr val="8D8C8C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>
                <a:solidFill>
                  <a:srgbClr val="8D8C8C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  <a:defRPr i="1" sz="1500">
                <a:solidFill>
                  <a:srgbClr val="8D8C8C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D8C8C"/>
              </a:buClr>
              <a:buSzPts val="1400"/>
              <a:buNone/>
              <a:defRPr sz="1400">
                <a:solidFill>
                  <a:srgbClr val="8D8C8C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200"/>
              <a:buNone/>
              <a:defRPr sz="1200">
                <a:solidFill>
                  <a:srgbClr val="8D8C8C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D8C8C"/>
              </a:buClr>
              <a:buSzPts val="1100"/>
              <a:buNone/>
              <a:defRPr sz="1100">
                <a:solidFill>
                  <a:srgbClr val="8D8C8C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648200" y="1200151"/>
            <a:ext cx="4038600" cy="32317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57200" y="1631156"/>
            <a:ext cx="4040188" cy="27952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8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18"/>
          <p:cNvSpPr txBox="1"/>
          <p:nvPr>
            <p:ph idx="4" type="body"/>
          </p:nvPr>
        </p:nvSpPr>
        <p:spPr>
          <a:xfrm>
            <a:off x="4645026" y="1631156"/>
            <a:ext cx="4041775" cy="27952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575050" y="204788"/>
            <a:ext cx="5111750" cy="42216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57201" y="1076326"/>
            <a:ext cx="3008313" cy="33500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7" name="Google Shape;117;p22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20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457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3124200" y="4927410"/>
            <a:ext cx="2895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6553200" y="4927410"/>
            <a:ext cx="2133600" cy="16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"/>
              <a:t>Sharetea SaaS System</a:t>
            </a:r>
            <a:endParaRPr/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1371600" y="2914651"/>
            <a:ext cx="6400800" cy="7156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Team X1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Hrudith, Jhanghir, Sudeep, Rahul S., Rahul G., Nicholas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Member Introductions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Problem Statement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Tech Stack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Accessibility Features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Usability Reports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Management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Additional Thoughts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MEMBER INTRODUCTIONS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X1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Full Stack: Hrudith</a:t>
            </a:r>
            <a:endParaRPr/>
          </a:p>
          <a:p>
            <a:pPr indent="-24765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Backend: Jhanghir</a:t>
            </a:r>
            <a:endParaRPr/>
          </a:p>
          <a:p>
            <a:pPr indent="-24765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Backend: Sudeep</a:t>
            </a:r>
            <a:endParaRPr/>
          </a:p>
          <a:p>
            <a:pPr indent="-24765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Frontend: Rahul S.</a:t>
            </a:r>
            <a:endParaRPr/>
          </a:p>
          <a:p>
            <a:pPr indent="-24765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Database &amp; API : Rahul G.</a:t>
            </a:r>
            <a:endParaRPr/>
          </a:p>
          <a:p>
            <a:pPr indent="-247650" lvl="0" marL="254000" rtl="0" algn="l">
              <a:spcBef>
                <a:spcPts val="4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UI/UX &amp; Testing: Nicholas</a:t>
            </a:r>
            <a:endParaRPr/>
          </a:p>
          <a:p>
            <a:pPr indent="-114300" lvl="0" marL="254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2" type="body"/>
          </p:nvPr>
        </p:nvSpPr>
        <p:spPr>
          <a:xfrm>
            <a:off x="4648200" y="1200151"/>
            <a:ext cx="4038600" cy="32317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&lt;Full Team Photo&gt;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925" y="1200150"/>
            <a:ext cx="4389024" cy="32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Full Stack: Hrudith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Full stack architecture design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Frontend/backend system integration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End-to-end feature implementation</a:t>
            </a:r>
            <a:endParaRPr/>
          </a:p>
          <a:p>
            <a:pPr indent="-247650" lvl="0" marL="254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Code reviews and collaboration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359" y="963863"/>
            <a:ext cx="2778275" cy="370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Backend: Jhanghir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PostgreSQL database development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Database schema and migrations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Authentication and authorization</a:t>
            </a:r>
            <a:endParaRPr/>
          </a:p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Backend Database and API Testing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65" name="Google Shape;165;p29" title="jhanghirIMG_Gangx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527" y="1268825"/>
            <a:ext cx="2513950" cy="335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Backend: Sudeep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API endpoint development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Order and payment systems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Inventory management logic</a:t>
            </a:r>
            <a:endParaRPr/>
          </a:p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Code reviews and collaboration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Database management and testing</a:t>
            </a:r>
            <a:endParaRPr/>
          </a:p>
        </p:txBody>
      </p:sp>
      <p:pic>
        <p:nvPicPr>
          <p:cNvPr id="172" name="Google Shape;172;p30" title="profi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250" y="1063225"/>
            <a:ext cx="2227651" cy="368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Frontend: Rahul S.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React component development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UI implementation with Tailwind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State management with Zustand</a:t>
            </a:r>
            <a:endParaRPr/>
          </a:p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Backend Code reviews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UI development</a:t>
            </a:r>
            <a:endParaRPr/>
          </a:p>
        </p:txBody>
      </p:sp>
      <p:pic>
        <p:nvPicPr>
          <p:cNvPr id="179" name="Google Shape;179;p31" title="IMG_769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729" y="1114166"/>
            <a:ext cx="3311752" cy="3403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Database &amp; API</a:t>
            </a:r>
            <a:r>
              <a:rPr lang="en"/>
              <a:t>: Rahul G.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PostgreSQL database administration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SQL optimization and queries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 migration scripts</a:t>
            </a:r>
            <a:endParaRPr/>
          </a:p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Frontend code reviews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86" name="Google Shape;186;p32" title="image_2025-11-26_1608009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972" y="955350"/>
            <a:ext cx="2791050" cy="37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UI/UX &amp; Testing: Nicholas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Dedicated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User interface design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Usability and accessibility testing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User feedback analysis</a:t>
            </a:r>
            <a:endParaRPr/>
          </a:p>
          <a:p>
            <a:pPr indent="-247650" lvl="0" marL="254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Shared Role Responsibilities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Database management</a:t>
            </a:r>
            <a:endParaRPr/>
          </a:p>
          <a:p>
            <a:pPr indent="-215900" lvl="1" marL="55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Bug fixes and troubleshooting</a:t>
            </a:r>
            <a:endParaRPr/>
          </a:p>
        </p:txBody>
      </p:sp>
      <p:pic>
        <p:nvPicPr>
          <p:cNvPr id="193" name="Google Shape;193;p33" title="Headshot_Cropp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875" y="1100175"/>
            <a:ext cx="2755249" cy="343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Product Idea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Comprehensive SaaS solution for Sharetea franchise operations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Modern point-of-sale system replacing outdated legacy systems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Multi-role support: Manager, Cashier, Barista, Customer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Real-time order processing and kitchen display system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Inventory management with automatic alerts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Analytics and reporting dashboard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Project Details</a:t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Full-stack web application with role-based dashboards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Google OAuth 2.0 authentication system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PostgreSQL database with normalized schema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RESTful API architecture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Real-time updates for kitchen operations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Weather-based menu recommendations using AI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State-of-the-Art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Cloud-based deployment (Supabase + Vercel)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WCAG 2.1 AA accessibility compliance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Multilingual support (Google Translate API)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AI-powered features for enhanced customer experience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Responsive design for multiple device types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Frontend Development</a:t>
            </a:r>
            <a:endParaRPr/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React 18 with Vite build system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React Router 6 for navigation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Zustand for state management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Tailwind CSS for styling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Vitest + React Testing Library</a:t>
            </a:r>
            <a:endParaRPr/>
          </a:p>
        </p:txBody>
      </p:sp>
      <p:pic>
        <p:nvPicPr>
          <p:cNvPr id="230" name="Google Shape;23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925" y="1200150"/>
            <a:ext cx="2034075" cy="6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5523" y="1881675"/>
            <a:ext cx="2775625" cy="11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1775" y="2922297"/>
            <a:ext cx="3305176" cy="1929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Backend Development</a:t>
            </a:r>
            <a:endParaRPr/>
          </a:p>
        </p:txBody>
      </p:sp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Node.js with Express framework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PostgreSQL 14+ database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Passport.js for authentication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JWT token-based authorization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Bcrypt for password hashing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Postman for API testing</a:t>
            </a:r>
            <a:endParaRPr/>
          </a:p>
        </p:txBody>
      </p:sp>
      <p:pic>
        <p:nvPicPr>
          <p:cNvPr id="239" name="Google Shape;2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546" y="1200150"/>
            <a:ext cx="1935250" cy="11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0"/>
          <p:cNvPicPr preferRelativeResize="0"/>
          <p:nvPr/>
        </p:nvPicPr>
        <p:blipFill rotWithShape="1">
          <a:blip r:embed="rId4">
            <a:alphaModFix/>
          </a:blip>
          <a:srcRect b="0" l="0" r="0" t="25838"/>
          <a:stretch/>
        </p:blipFill>
        <p:spPr>
          <a:xfrm>
            <a:off x="5731425" y="2571750"/>
            <a:ext cx="2857500" cy="11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5595" y="3328125"/>
            <a:ext cx="1849154" cy="9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Full Stack Development</a:t>
            </a:r>
            <a:endParaRPr/>
          </a:p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Monorepo architecture with npm workspaces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RESTful API design principles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Role-based access control (RBAC)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CORS-enabled cross-origin requests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Environment-based configuration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CI/CD ready deployment structure</a:t>
            </a:r>
            <a:endParaRPr/>
          </a:p>
        </p:txBody>
      </p:sp>
      <p:pic>
        <p:nvPicPr>
          <p:cNvPr id="248" name="Google Shape;248;p41"/>
          <p:cNvPicPr preferRelativeResize="0"/>
          <p:nvPr/>
        </p:nvPicPr>
        <p:blipFill rotWithShape="1">
          <a:blip r:embed="rId3">
            <a:alphaModFix/>
          </a:blip>
          <a:srcRect b="0" l="26263" r="25967" t="0"/>
          <a:stretch/>
        </p:blipFill>
        <p:spPr>
          <a:xfrm>
            <a:off x="6686650" y="1200150"/>
            <a:ext cx="1710175" cy="12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0975" y="2811575"/>
            <a:ext cx="2945850" cy="14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ACCESSIBILITY FEATURES</a:t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1st Persona: Maria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Community health worker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Her mobile phone is her first computer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Uses computer translations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Needs clearly written information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Spanish/English bilingual</a:t>
            </a:r>
            <a:endParaRPr/>
          </a:p>
        </p:txBody>
      </p:sp>
      <p:pic>
        <p:nvPicPr>
          <p:cNvPr id="262" name="Google Shape;2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650" y="1704487"/>
            <a:ext cx="2343925" cy="17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Accessibility Features for Maria </a:t>
            </a:r>
            <a:endParaRPr/>
          </a:p>
        </p:txBody>
      </p:sp>
      <p:sp>
        <p:nvSpPr>
          <p:cNvPr id="268" name="Google Shape;268;p44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English/Sp</a:t>
            </a:r>
            <a:r>
              <a:rPr lang="en"/>
              <a:t>anish language toggle available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Google Translate widget embedded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Mobile-responsive design for phones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Clear labels in both languages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Simple, consistent navigation patterns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Semantic HTML structure throughout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Form fields with bilingual support</a:t>
            </a:r>
            <a:endParaRPr/>
          </a:p>
        </p:txBody>
      </p:sp>
      <p:pic>
        <p:nvPicPr>
          <p:cNvPr id="269" name="Google Shape;2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175" y="3102500"/>
            <a:ext cx="3386926" cy="3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850" y="2290150"/>
            <a:ext cx="600250" cy="5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2122" y="1772213"/>
            <a:ext cx="3225030" cy="33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5054" y="2290153"/>
            <a:ext cx="519633" cy="56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44"/>
          <p:cNvCxnSpPr/>
          <p:nvPr/>
        </p:nvCxnSpPr>
        <p:spPr>
          <a:xfrm>
            <a:off x="6798968" y="2561750"/>
            <a:ext cx="7686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2nd Persona: Vishnu</a:t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Engineer, working on medical technology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World citizen through technology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Low vision due to glaucoma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Uses screen magnifiers 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Contrast adjustment</a:t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100" y="1935230"/>
            <a:ext cx="2380750" cy="176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Accessibility Features for Vishnu 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Adjustable font size controls (A-/A/A+)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High contrast mode toggle available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ARIA labels for screen readers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Full keyboard navigation support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Clear focus indicators on elements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Real-time font size preview display</a:t>
            </a:r>
            <a:endParaRPr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Semantic time elements with attributes</a:t>
            </a:r>
            <a:endParaRPr/>
          </a:p>
        </p:txBody>
      </p:sp>
      <p:grpSp>
        <p:nvGrpSpPr>
          <p:cNvPr id="287" name="Google Shape;287;p46"/>
          <p:cNvGrpSpPr/>
          <p:nvPr/>
        </p:nvGrpSpPr>
        <p:grpSpPr>
          <a:xfrm>
            <a:off x="5392588" y="1620220"/>
            <a:ext cx="3294202" cy="2156068"/>
            <a:chOff x="5400313" y="1237357"/>
            <a:chExt cx="3294202" cy="2156068"/>
          </a:xfrm>
        </p:grpSpPr>
        <p:pic>
          <p:nvPicPr>
            <p:cNvPr id="288" name="Google Shape;288;p46"/>
            <p:cNvPicPr preferRelativeResize="0"/>
            <p:nvPr/>
          </p:nvPicPr>
          <p:blipFill rotWithShape="1">
            <a:blip r:embed="rId3">
              <a:alphaModFix/>
            </a:blip>
            <a:srcRect b="0" l="1234" r="0" t="0"/>
            <a:stretch/>
          </p:blipFill>
          <p:spPr>
            <a:xfrm>
              <a:off x="5408025" y="1917700"/>
              <a:ext cx="3278775" cy="7527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9" name="Google Shape;289;p46"/>
            <p:cNvGrpSpPr/>
            <p:nvPr/>
          </p:nvGrpSpPr>
          <p:grpSpPr>
            <a:xfrm>
              <a:off x="5400313" y="1237357"/>
              <a:ext cx="3294202" cy="2156068"/>
              <a:chOff x="5400313" y="1237357"/>
              <a:chExt cx="3294202" cy="2156068"/>
            </a:xfrm>
          </p:grpSpPr>
          <p:pic>
            <p:nvPicPr>
              <p:cNvPr id="290" name="Google Shape;290;p46"/>
              <p:cNvPicPr preferRelativeResize="0"/>
              <p:nvPr/>
            </p:nvPicPr>
            <p:blipFill rotWithShape="1">
              <a:blip r:embed="rId4">
                <a:alphaModFix/>
              </a:blip>
              <a:srcRect b="0" l="1234" r="0" t="0"/>
              <a:stretch/>
            </p:blipFill>
            <p:spPr>
              <a:xfrm>
                <a:off x="5408025" y="1237357"/>
                <a:ext cx="3278775" cy="717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" name="Google Shape;291;p4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400313" y="2640675"/>
                <a:ext cx="3294202" cy="752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3rd Persona: Carol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Grandmother learning to use technology from grandkids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Macular degeneration causing tremors and limits reading </a:t>
            </a:r>
            <a:r>
              <a:rPr lang="en"/>
              <a:t>capabilities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Has learned to enlarge text in browser</a:t>
            </a:r>
            <a:endParaRPr/>
          </a:p>
        </p:txBody>
      </p:sp>
      <p:pic>
        <p:nvPicPr>
          <p:cNvPr id="298" name="Google Shape;2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1227" y="2224550"/>
            <a:ext cx="2434875" cy="18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Accessibility Features for Carol </a:t>
            </a:r>
            <a:endParaRPr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Large text up to 150%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High contrast theme reduces strain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Large touch targets for buttons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Skip navigation links for content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Clear visual hierarchy with spacing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Settings persist across browser sessions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Extra padding on interactive elements</a:t>
            </a:r>
            <a:endParaRPr/>
          </a:p>
        </p:txBody>
      </p:sp>
      <p:grpSp>
        <p:nvGrpSpPr>
          <p:cNvPr id="305" name="Google Shape;305;p48"/>
          <p:cNvGrpSpPr/>
          <p:nvPr/>
        </p:nvGrpSpPr>
        <p:grpSpPr>
          <a:xfrm>
            <a:off x="5392588" y="1200157"/>
            <a:ext cx="3294202" cy="2156068"/>
            <a:chOff x="5400313" y="1237357"/>
            <a:chExt cx="3294202" cy="2156068"/>
          </a:xfrm>
        </p:grpSpPr>
        <p:pic>
          <p:nvPicPr>
            <p:cNvPr id="306" name="Google Shape;306;p48"/>
            <p:cNvPicPr preferRelativeResize="0"/>
            <p:nvPr/>
          </p:nvPicPr>
          <p:blipFill rotWithShape="1">
            <a:blip r:embed="rId3">
              <a:alphaModFix/>
            </a:blip>
            <a:srcRect b="0" l="1234" r="0" t="0"/>
            <a:stretch/>
          </p:blipFill>
          <p:spPr>
            <a:xfrm>
              <a:off x="5408025" y="1917700"/>
              <a:ext cx="3278775" cy="7527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48"/>
            <p:cNvGrpSpPr/>
            <p:nvPr/>
          </p:nvGrpSpPr>
          <p:grpSpPr>
            <a:xfrm>
              <a:off x="5400313" y="1237357"/>
              <a:ext cx="3294202" cy="2156068"/>
              <a:chOff x="5400313" y="1237357"/>
              <a:chExt cx="3294202" cy="2156068"/>
            </a:xfrm>
          </p:grpSpPr>
          <p:pic>
            <p:nvPicPr>
              <p:cNvPr id="308" name="Google Shape;308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1234" r="0" t="0"/>
              <a:stretch/>
            </p:blipFill>
            <p:spPr>
              <a:xfrm>
                <a:off x="5408025" y="1237357"/>
                <a:ext cx="3278775" cy="717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4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400313" y="2640675"/>
                <a:ext cx="3294202" cy="752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USABILITY REPORTS</a:t>
            </a:r>
            <a:endParaRPr/>
          </a:p>
        </p:txBody>
      </p:sp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Lo-fi Prototyping</a:t>
            </a:r>
            <a:endParaRPr/>
          </a:p>
        </p:txBody>
      </p:sp>
      <p:sp>
        <p:nvSpPr>
          <p:cNvPr id="321" name="Google Shape;321;p50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Initial sketches for user flows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Paper prototypes for menu navigation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Basic POS interaction wireframes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Customer kiosk layout concepts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Manager dashboard structure planning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Early accessibility feature considerations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Rapid iteration without coding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Hi-fi Wireframes</a:t>
            </a:r>
            <a:endParaRPr/>
          </a:p>
        </p:txBody>
      </p:sp>
      <p:sp>
        <p:nvSpPr>
          <p:cNvPr id="327" name="Google Shape;327;p51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Figma designs for all interfaces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Complete component library created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Detailed POS cashier screen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Customer kiosk ordering flow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Manager dashboard with analytics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Accessibility controls panel design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Responsive l</a:t>
            </a:r>
            <a:r>
              <a:rPr lang="en"/>
              <a:t>ayouts for mobile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User Study Feedback</a:t>
            </a:r>
            <a:endParaRPr/>
          </a:p>
        </p:txBody>
      </p:sp>
      <p:sp>
        <p:nvSpPr>
          <p:cNvPr id="333" name="Google Shape;333;p52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Conducted accessibility-focused user testing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Three personas tested all flows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High-contrast mode validated positively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Language toggle worked effectively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Font size controls well-received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Navigation found clear and intuitive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Minor improvements identified and implemented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339" name="Google Shape;339;p5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Product Backlog Summary</a:t>
            </a:r>
            <a:endParaRPr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Total: ~200 story points created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Completed: 121 points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Sprint 1: 58 points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Sprint 2: 63 points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Remaining: ~80 points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Status: On track</a:t>
            </a:r>
            <a:endParaRPr/>
          </a:p>
        </p:txBody>
      </p:sp>
      <p:pic>
        <p:nvPicPr>
          <p:cNvPr id="346" name="Google Shape;34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098" y="1528263"/>
            <a:ext cx="3863501" cy="257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Sprint 1 Status</a:t>
            </a:r>
            <a:endParaRPr/>
          </a:p>
        </p:txBody>
      </p:sp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Duration: Oct 26 - Nov 16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Points completed: 58 total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Velocity: 29 points/week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Tasks: 23 items completed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Zero tasks deferred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Foundation successfully built</a:t>
            </a:r>
            <a:endParaRPr/>
          </a:p>
        </p:txBody>
      </p:sp>
      <p:pic>
        <p:nvPicPr>
          <p:cNvPr id="353" name="Google Shape;35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440" y="1200150"/>
            <a:ext cx="4056774" cy="24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Sprint 2 Outlook</a:t>
            </a:r>
            <a:endParaRPr/>
          </a:p>
        </p:txBody>
      </p:sp>
      <p:sp>
        <p:nvSpPr>
          <p:cNvPr id="359" name="Google Shape;359;p56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Duration: Nov 16 - Nov 24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Points completed: 63 total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Velocity: 31.5 points/week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Improvement: 8.6% over Sprint 1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All APIs integrated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UI features delivered</a:t>
            </a:r>
            <a:endParaRPr/>
          </a:p>
        </p:txBody>
      </p:sp>
      <p:pic>
        <p:nvPicPr>
          <p:cNvPr id="360" name="Google Shape;36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530" y="1200150"/>
            <a:ext cx="3994375" cy="23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Sprint 3 Outlook</a:t>
            </a:r>
            <a:endParaRPr/>
          </a:p>
        </p:txBody>
      </p:sp>
      <p:sp>
        <p:nvSpPr>
          <p:cNvPr id="366" name="Google Shape;366;p57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Duration: Nov 24 - Dec 7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Target: 65-70 story points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Focus: Testing and deployment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Regression testing all features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Final UI polish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Production deployment ready</a:t>
            </a:r>
            <a:endParaRPr/>
          </a:p>
        </p:txBody>
      </p:sp>
      <p:sp>
        <p:nvSpPr>
          <p:cNvPr id="367" name="Google Shape;367;p57"/>
          <p:cNvSpPr txBox="1"/>
          <p:nvPr>
            <p:ph idx="2" type="body"/>
          </p:nvPr>
        </p:nvSpPr>
        <p:spPr>
          <a:xfrm>
            <a:off x="4648200" y="1200150"/>
            <a:ext cx="40386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200" y="1200150"/>
            <a:ext cx="4038600" cy="2480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Overall Project Outlook</a:t>
            </a:r>
            <a:endParaRPr/>
          </a:p>
        </p:txBody>
      </p:sp>
      <p:sp>
        <p:nvSpPr>
          <p:cNvPr id="374" name="Google Shape;374;p58"/>
          <p:cNvSpPr txBox="1"/>
          <p:nvPr>
            <p:ph idx="1" type="body"/>
          </p:nvPr>
        </p:nvSpPr>
        <p:spPr>
          <a:xfrm>
            <a:off x="457200" y="1200150"/>
            <a:ext cx="8229600" cy="3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Progress: 61% complete (121/200 points)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Velocity: Steadily increasing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Critical features: On schedule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Accessibility: Close to completion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Deployment: Sprint 3 target</a:t>
            </a:r>
            <a:endParaRPr/>
          </a:p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Demo date: December 7</a:t>
            </a:r>
            <a:endParaRPr/>
          </a:p>
        </p:txBody>
      </p:sp>
      <p:pic>
        <p:nvPicPr>
          <p:cNvPr id="375" name="Google Shape;37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550" y="1431150"/>
            <a:ext cx="2769899" cy="276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9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/>
              <a:t>ADDITIONAL THOUGHTS</a:t>
            </a:r>
            <a:endParaRPr/>
          </a:p>
        </p:txBody>
      </p:sp>
      <p:sp>
        <p:nvSpPr>
          <p:cNvPr id="381" name="Google Shape;381;p59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8C8C"/>
              </a:buClr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87" name="Google Shape;387;p60"/>
          <p:cNvSpPr txBox="1"/>
          <p:nvPr>
            <p:ph idx="1" type="body"/>
          </p:nvPr>
        </p:nvSpPr>
        <p:spPr>
          <a:xfrm>
            <a:off x="457200" y="1200151"/>
            <a:ext cx="8229600" cy="32262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Best practices for production OAuth callback URLs?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Recommendations for database migration strategies?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Suggestions for load testing approach?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Guidance on API rate limiting implementation?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Feedback on our accessibility approach?</a:t>
            </a:r>
            <a:endParaRPr sz="2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Concerns</a:t>
            </a:r>
            <a:endParaRPr/>
          </a:p>
        </p:txBody>
      </p:sp>
      <p:sp>
        <p:nvSpPr>
          <p:cNvPr id="393" name="Google Shape;393;p61"/>
          <p:cNvSpPr txBox="1"/>
          <p:nvPr>
            <p:ph idx="1" type="body"/>
          </p:nvPr>
        </p:nvSpPr>
        <p:spPr>
          <a:xfrm>
            <a:off x="457200" y="1200151"/>
            <a:ext cx="82296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Managing environment variables across platforms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Database connection security in cloud environment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OAuth flow testing in production</a:t>
            </a:r>
            <a:endParaRPr sz="21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 sz="2100"/>
              <a:t>Performance under expected load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AMU Palette">
      <a:dk1>
        <a:srgbClr val="332C2C"/>
      </a:dk1>
      <a:lt1>
        <a:srgbClr val="FFFFFF"/>
      </a:lt1>
      <a:dk2>
        <a:srgbClr val="565252"/>
      </a:dk2>
      <a:lt2>
        <a:srgbClr val="D9D9D9"/>
      </a:lt2>
      <a:accent1>
        <a:srgbClr val="500000"/>
      </a:accent1>
      <a:accent2>
        <a:srgbClr val="1D3362"/>
      </a:accent2>
      <a:accent3>
        <a:srgbClr val="FFFFFF"/>
      </a:accent3>
      <a:accent4>
        <a:srgbClr val="D0D0D0"/>
      </a:accent4>
      <a:accent5>
        <a:srgbClr val="444040"/>
      </a:accent5>
      <a:accent6>
        <a:srgbClr val="000000"/>
      </a:accent6>
      <a:hlink>
        <a:srgbClr val="500000"/>
      </a:hlink>
      <a:folHlink>
        <a:srgbClr val="B0AFA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