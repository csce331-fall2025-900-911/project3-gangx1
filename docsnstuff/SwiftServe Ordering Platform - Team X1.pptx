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  <p:sldMasterId id="2147483669" r:id="rId2"/>
  </p:sldMasterIdLst>
  <p:notesMasterIdLst>
    <p:notesMasterId r:id="rId4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9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44"/>
      <p:bold r:id="rId45"/>
      <p:italic r:id="rId46"/>
      <p:boldItalic r:id="rId47"/>
    </p:embeddedFont>
    <p:embeddedFont>
      <p:font typeface="Old Standard TT" panose="020B0604020202020204" charset="0"/>
      <p:regular r:id="rId48"/>
      <p:bold r:id="rId49"/>
      <p: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2.fntdata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1.fntdata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3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6.fntdata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9DB967-603F-49D4-BE24-71F201FFEF3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701E02-3150-455A-A6C0-7B0A5F9F2ED1}">
      <dgm:prSet phldrT="[Text]" phldr="0"/>
      <dgm:spPr/>
      <dgm:t>
        <a:bodyPr/>
        <a:lstStyle/>
        <a:p>
          <a:r>
            <a:rPr lang="en-US" dirty="0"/>
            <a:t>User</a:t>
          </a:r>
        </a:p>
      </dgm:t>
    </dgm:pt>
    <dgm:pt modelId="{2CEBCAA0-1FDB-4516-9193-145E37C58DE3}" type="parTrans" cxnId="{266F1B52-DE48-4BA2-87D5-6D27557C950C}">
      <dgm:prSet/>
      <dgm:spPr/>
      <dgm:t>
        <a:bodyPr/>
        <a:lstStyle/>
        <a:p>
          <a:endParaRPr lang="en-US"/>
        </a:p>
      </dgm:t>
    </dgm:pt>
    <dgm:pt modelId="{13C89A18-8CB6-4923-8498-EF4F6765B2C2}" type="sibTrans" cxnId="{266F1B52-DE48-4BA2-87D5-6D27557C950C}">
      <dgm:prSet/>
      <dgm:spPr/>
      <dgm:t>
        <a:bodyPr/>
        <a:lstStyle/>
        <a:p>
          <a:endParaRPr lang="en-US"/>
        </a:p>
      </dgm:t>
    </dgm:pt>
    <dgm:pt modelId="{FD1D1704-6CBE-48A1-BA40-2B6DFAA83CC8}">
      <dgm:prSet phldrT="[Text]" phldr="0"/>
      <dgm:spPr/>
      <dgm:t>
        <a:bodyPr/>
        <a:lstStyle/>
        <a:p>
          <a:r>
            <a:rPr lang="en-US" dirty="0"/>
            <a:t>Google Login</a:t>
          </a:r>
        </a:p>
      </dgm:t>
    </dgm:pt>
    <dgm:pt modelId="{80376702-74E2-450F-8A5E-5E7A022907D8}" type="parTrans" cxnId="{CEFF5F9A-70AD-44E6-B479-1540FD014ECB}">
      <dgm:prSet/>
      <dgm:spPr/>
      <dgm:t>
        <a:bodyPr/>
        <a:lstStyle/>
        <a:p>
          <a:endParaRPr lang="en-US"/>
        </a:p>
      </dgm:t>
    </dgm:pt>
    <dgm:pt modelId="{9FB43DB2-F4C9-4A76-98EB-75E5D36C2EFF}" type="sibTrans" cxnId="{CEFF5F9A-70AD-44E6-B479-1540FD014ECB}">
      <dgm:prSet/>
      <dgm:spPr/>
      <dgm:t>
        <a:bodyPr/>
        <a:lstStyle/>
        <a:p>
          <a:endParaRPr lang="en-US"/>
        </a:p>
      </dgm:t>
    </dgm:pt>
    <dgm:pt modelId="{ADF01D9B-BF4E-4AEA-8371-303C32DA797A}">
      <dgm:prSet phldrT="[Text]" phldr="0"/>
      <dgm:spPr/>
      <dgm:t>
        <a:bodyPr/>
        <a:lstStyle/>
        <a:p>
          <a:r>
            <a:rPr lang="en-US" dirty="0"/>
            <a:t>OAuth Token</a:t>
          </a:r>
        </a:p>
      </dgm:t>
    </dgm:pt>
    <dgm:pt modelId="{4305D414-61D6-4873-9476-3822EBCF09E2}" type="parTrans" cxnId="{BB5F8A01-0366-4A72-BC8F-697594E15310}">
      <dgm:prSet/>
      <dgm:spPr/>
      <dgm:t>
        <a:bodyPr/>
        <a:lstStyle/>
        <a:p>
          <a:endParaRPr lang="en-US"/>
        </a:p>
      </dgm:t>
    </dgm:pt>
    <dgm:pt modelId="{0A4FB772-0D34-4234-9D6D-E19687B7CE58}" type="sibTrans" cxnId="{BB5F8A01-0366-4A72-BC8F-697594E15310}">
      <dgm:prSet/>
      <dgm:spPr/>
      <dgm:t>
        <a:bodyPr/>
        <a:lstStyle/>
        <a:p>
          <a:endParaRPr lang="en-US"/>
        </a:p>
      </dgm:t>
    </dgm:pt>
    <dgm:pt modelId="{FE936604-B0AE-4BDE-A206-736895B8DEF8}">
      <dgm:prSet/>
      <dgm:spPr/>
      <dgm:t>
        <a:bodyPr/>
        <a:lstStyle/>
        <a:p>
          <a:r>
            <a:rPr lang="en-US" dirty="0"/>
            <a:t>Backend Verification</a:t>
          </a:r>
        </a:p>
      </dgm:t>
    </dgm:pt>
    <dgm:pt modelId="{92307F39-06C3-4F67-92B0-6778C35B9DAB}" type="parTrans" cxnId="{48131957-1375-4FF0-A819-2645EE00667B}">
      <dgm:prSet/>
      <dgm:spPr/>
      <dgm:t>
        <a:bodyPr/>
        <a:lstStyle/>
        <a:p>
          <a:endParaRPr lang="en-US"/>
        </a:p>
      </dgm:t>
    </dgm:pt>
    <dgm:pt modelId="{04E46AD2-E697-4589-AA96-75C745CEEAD6}" type="sibTrans" cxnId="{48131957-1375-4FF0-A819-2645EE00667B}">
      <dgm:prSet/>
      <dgm:spPr/>
      <dgm:t>
        <a:bodyPr/>
        <a:lstStyle/>
        <a:p>
          <a:endParaRPr lang="en-US"/>
        </a:p>
      </dgm:t>
    </dgm:pt>
    <dgm:pt modelId="{7A42C29A-2BCB-40A9-B6CA-FE8C1A2FE552}">
      <dgm:prSet/>
      <dgm:spPr/>
      <dgm:t>
        <a:bodyPr/>
        <a:lstStyle/>
        <a:p>
          <a:r>
            <a:rPr lang="en-US" dirty="0"/>
            <a:t>Dashboard Access</a:t>
          </a:r>
        </a:p>
      </dgm:t>
    </dgm:pt>
    <dgm:pt modelId="{C8019D77-3900-487C-BB2F-EDF2BD2FD4BA}" type="parTrans" cxnId="{6460A159-5453-4A45-8DC4-5ADD595915C2}">
      <dgm:prSet/>
      <dgm:spPr/>
      <dgm:t>
        <a:bodyPr/>
        <a:lstStyle/>
        <a:p>
          <a:endParaRPr lang="en-US"/>
        </a:p>
      </dgm:t>
    </dgm:pt>
    <dgm:pt modelId="{90C89CD3-9491-48AC-A36D-B93772BE018C}" type="sibTrans" cxnId="{6460A159-5453-4A45-8DC4-5ADD595915C2}">
      <dgm:prSet/>
      <dgm:spPr/>
      <dgm:t>
        <a:bodyPr/>
        <a:lstStyle/>
        <a:p>
          <a:endParaRPr lang="en-US"/>
        </a:p>
      </dgm:t>
    </dgm:pt>
    <dgm:pt modelId="{A2526664-0C30-47F5-8792-29FE911D64D3}" type="pres">
      <dgm:prSet presAssocID="{DF9DB967-603F-49D4-BE24-71F201FFEF30}" presName="Name0" presStyleCnt="0">
        <dgm:presLayoutVars>
          <dgm:dir/>
          <dgm:resizeHandles val="exact"/>
        </dgm:presLayoutVars>
      </dgm:prSet>
      <dgm:spPr/>
    </dgm:pt>
    <dgm:pt modelId="{2EB58E15-8F7B-47E8-A93E-ADAFC70B595A}" type="pres">
      <dgm:prSet presAssocID="{25701E02-3150-455A-A6C0-7B0A5F9F2ED1}" presName="node" presStyleLbl="node1" presStyleIdx="0" presStyleCnt="5">
        <dgm:presLayoutVars>
          <dgm:bulletEnabled val="1"/>
        </dgm:presLayoutVars>
      </dgm:prSet>
      <dgm:spPr/>
    </dgm:pt>
    <dgm:pt modelId="{51A63AD4-9D46-479F-B3E6-6DB97E9FF0FA}" type="pres">
      <dgm:prSet presAssocID="{13C89A18-8CB6-4923-8498-EF4F6765B2C2}" presName="sibTrans" presStyleLbl="sibTrans2D1" presStyleIdx="0" presStyleCnt="4"/>
      <dgm:spPr/>
    </dgm:pt>
    <dgm:pt modelId="{7055A7AF-0AAB-4F8C-A9ED-F6B8844E6CF8}" type="pres">
      <dgm:prSet presAssocID="{13C89A18-8CB6-4923-8498-EF4F6765B2C2}" presName="connectorText" presStyleLbl="sibTrans2D1" presStyleIdx="0" presStyleCnt="4"/>
      <dgm:spPr/>
    </dgm:pt>
    <dgm:pt modelId="{ECD8DB68-549B-4106-8FB5-2BCEC1BE717B}" type="pres">
      <dgm:prSet presAssocID="{FD1D1704-6CBE-48A1-BA40-2B6DFAA83CC8}" presName="node" presStyleLbl="node1" presStyleIdx="1" presStyleCnt="5">
        <dgm:presLayoutVars>
          <dgm:bulletEnabled val="1"/>
        </dgm:presLayoutVars>
      </dgm:prSet>
      <dgm:spPr/>
    </dgm:pt>
    <dgm:pt modelId="{54A34B09-43DC-4DFB-8EE5-9896F757CA16}" type="pres">
      <dgm:prSet presAssocID="{9FB43DB2-F4C9-4A76-98EB-75E5D36C2EFF}" presName="sibTrans" presStyleLbl="sibTrans2D1" presStyleIdx="1" presStyleCnt="4"/>
      <dgm:spPr/>
    </dgm:pt>
    <dgm:pt modelId="{E00E07B1-24A7-4254-8367-A1CF50A28865}" type="pres">
      <dgm:prSet presAssocID="{9FB43DB2-F4C9-4A76-98EB-75E5D36C2EFF}" presName="connectorText" presStyleLbl="sibTrans2D1" presStyleIdx="1" presStyleCnt="4"/>
      <dgm:spPr/>
    </dgm:pt>
    <dgm:pt modelId="{3B7B2139-6D64-4A0E-903D-8246A0B8AB7F}" type="pres">
      <dgm:prSet presAssocID="{ADF01D9B-BF4E-4AEA-8371-303C32DA797A}" presName="node" presStyleLbl="node1" presStyleIdx="2" presStyleCnt="5">
        <dgm:presLayoutVars>
          <dgm:bulletEnabled val="1"/>
        </dgm:presLayoutVars>
      </dgm:prSet>
      <dgm:spPr/>
    </dgm:pt>
    <dgm:pt modelId="{2C33D95D-D0DC-4AE3-9E5E-7E812F184AC5}" type="pres">
      <dgm:prSet presAssocID="{0A4FB772-0D34-4234-9D6D-E19687B7CE58}" presName="sibTrans" presStyleLbl="sibTrans2D1" presStyleIdx="2" presStyleCnt="4"/>
      <dgm:spPr/>
    </dgm:pt>
    <dgm:pt modelId="{A0A6AAA4-1CE0-4533-9F19-5771ECB29B59}" type="pres">
      <dgm:prSet presAssocID="{0A4FB772-0D34-4234-9D6D-E19687B7CE58}" presName="connectorText" presStyleLbl="sibTrans2D1" presStyleIdx="2" presStyleCnt="4"/>
      <dgm:spPr/>
    </dgm:pt>
    <dgm:pt modelId="{EEBDCFF8-30E1-4357-B332-2D6295726CD4}" type="pres">
      <dgm:prSet presAssocID="{FE936604-B0AE-4BDE-A206-736895B8DEF8}" presName="node" presStyleLbl="node1" presStyleIdx="3" presStyleCnt="5">
        <dgm:presLayoutVars>
          <dgm:bulletEnabled val="1"/>
        </dgm:presLayoutVars>
      </dgm:prSet>
      <dgm:spPr/>
    </dgm:pt>
    <dgm:pt modelId="{6FE4568C-72C9-405B-822D-902F4C0F35FD}" type="pres">
      <dgm:prSet presAssocID="{04E46AD2-E697-4589-AA96-75C745CEEAD6}" presName="sibTrans" presStyleLbl="sibTrans2D1" presStyleIdx="3" presStyleCnt="4"/>
      <dgm:spPr/>
    </dgm:pt>
    <dgm:pt modelId="{B40E40CF-CD77-4473-BF40-54B69F50E4D1}" type="pres">
      <dgm:prSet presAssocID="{04E46AD2-E697-4589-AA96-75C745CEEAD6}" presName="connectorText" presStyleLbl="sibTrans2D1" presStyleIdx="3" presStyleCnt="4"/>
      <dgm:spPr/>
    </dgm:pt>
    <dgm:pt modelId="{D1F027AC-9D9D-4CF3-9EF9-4FA6FB6D82DD}" type="pres">
      <dgm:prSet presAssocID="{7A42C29A-2BCB-40A9-B6CA-FE8C1A2FE552}" presName="node" presStyleLbl="node1" presStyleIdx="4" presStyleCnt="5">
        <dgm:presLayoutVars>
          <dgm:bulletEnabled val="1"/>
        </dgm:presLayoutVars>
      </dgm:prSet>
      <dgm:spPr/>
    </dgm:pt>
  </dgm:ptLst>
  <dgm:cxnLst>
    <dgm:cxn modelId="{BB5F8A01-0366-4A72-BC8F-697594E15310}" srcId="{DF9DB967-603F-49D4-BE24-71F201FFEF30}" destId="{ADF01D9B-BF4E-4AEA-8371-303C32DA797A}" srcOrd="2" destOrd="0" parTransId="{4305D414-61D6-4873-9476-3822EBCF09E2}" sibTransId="{0A4FB772-0D34-4234-9D6D-E19687B7CE58}"/>
    <dgm:cxn modelId="{8BCC5326-8DE0-4416-97F9-8C7D83A761E4}" type="presOf" srcId="{DF9DB967-603F-49D4-BE24-71F201FFEF30}" destId="{A2526664-0C30-47F5-8792-29FE911D64D3}" srcOrd="0" destOrd="0" presId="urn:microsoft.com/office/officeart/2005/8/layout/process1"/>
    <dgm:cxn modelId="{EB88512D-2D0F-4458-B7F6-3C2E0918C7A8}" type="presOf" srcId="{FD1D1704-6CBE-48A1-BA40-2B6DFAA83CC8}" destId="{ECD8DB68-549B-4106-8FB5-2BCEC1BE717B}" srcOrd="0" destOrd="0" presId="urn:microsoft.com/office/officeart/2005/8/layout/process1"/>
    <dgm:cxn modelId="{EDB33C30-251D-4424-9001-884DF6E68B19}" type="presOf" srcId="{04E46AD2-E697-4589-AA96-75C745CEEAD6}" destId="{6FE4568C-72C9-405B-822D-902F4C0F35FD}" srcOrd="0" destOrd="0" presId="urn:microsoft.com/office/officeart/2005/8/layout/process1"/>
    <dgm:cxn modelId="{037E003D-C929-40E4-A582-51703DBF0873}" type="presOf" srcId="{13C89A18-8CB6-4923-8498-EF4F6765B2C2}" destId="{51A63AD4-9D46-479F-B3E6-6DB97E9FF0FA}" srcOrd="0" destOrd="0" presId="urn:microsoft.com/office/officeart/2005/8/layout/process1"/>
    <dgm:cxn modelId="{823A6967-9B14-4DA3-8CE2-240582E8F89D}" type="presOf" srcId="{13C89A18-8CB6-4923-8498-EF4F6765B2C2}" destId="{7055A7AF-0AAB-4F8C-A9ED-F6B8844E6CF8}" srcOrd="1" destOrd="0" presId="urn:microsoft.com/office/officeart/2005/8/layout/process1"/>
    <dgm:cxn modelId="{266F1B52-DE48-4BA2-87D5-6D27557C950C}" srcId="{DF9DB967-603F-49D4-BE24-71F201FFEF30}" destId="{25701E02-3150-455A-A6C0-7B0A5F9F2ED1}" srcOrd="0" destOrd="0" parTransId="{2CEBCAA0-1FDB-4516-9193-145E37C58DE3}" sibTransId="{13C89A18-8CB6-4923-8498-EF4F6765B2C2}"/>
    <dgm:cxn modelId="{48131957-1375-4FF0-A819-2645EE00667B}" srcId="{DF9DB967-603F-49D4-BE24-71F201FFEF30}" destId="{FE936604-B0AE-4BDE-A206-736895B8DEF8}" srcOrd="3" destOrd="0" parTransId="{92307F39-06C3-4F67-92B0-6778C35B9DAB}" sibTransId="{04E46AD2-E697-4589-AA96-75C745CEEAD6}"/>
    <dgm:cxn modelId="{6460A159-5453-4A45-8DC4-5ADD595915C2}" srcId="{DF9DB967-603F-49D4-BE24-71F201FFEF30}" destId="{7A42C29A-2BCB-40A9-B6CA-FE8C1A2FE552}" srcOrd="4" destOrd="0" parTransId="{C8019D77-3900-487C-BB2F-EDF2BD2FD4BA}" sibTransId="{90C89CD3-9491-48AC-A36D-B93772BE018C}"/>
    <dgm:cxn modelId="{A12FF281-7FB4-4D0C-B234-239BE2E4C04F}" type="presOf" srcId="{ADF01D9B-BF4E-4AEA-8371-303C32DA797A}" destId="{3B7B2139-6D64-4A0E-903D-8246A0B8AB7F}" srcOrd="0" destOrd="0" presId="urn:microsoft.com/office/officeart/2005/8/layout/process1"/>
    <dgm:cxn modelId="{39116A82-57EA-4DEC-B56F-43D66A7BE696}" type="presOf" srcId="{9FB43DB2-F4C9-4A76-98EB-75E5D36C2EFF}" destId="{54A34B09-43DC-4DFB-8EE5-9896F757CA16}" srcOrd="0" destOrd="0" presId="urn:microsoft.com/office/officeart/2005/8/layout/process1"/>
    <dgm:cxn modelId="{12F5CB89-1DFA-4594-B8D4-71C83673BA99}" type="presOf" srcId="{FE936604-B0AE-4BDE-A206-736895B8DEF8}" destId="{EEBDCFF8-30E1-4357-B332-2D6295726CD4}" srcOrd="0" destOrd="0" presId="urn:microsoft.com/office/officeart/2005/8/layout/process1"/>
    <dgm:cxn modelId="{1F6C5394-EDAE-401E-AF6E-00091475DB98}" type="presOf" srcId="{04E46AD2-E697-4589-AA96-75C745CEEAD6}" destId="{B40E40CF-CD77-4473-BF40-54B69F50E4D1}" srcOrd="1" destOrd="0" presId="urn:microsoft.com/office/officeart/2005/8/layout/process1"/>
    <dgm:cxn modelId="{CEFF5F9A-70AD-44E6-B479-1540FD014ECB}" srcId="{DF9DB967-603F-49D4-BE24-71F201FFEF30}" destId="{FD1D1704-6CBE-48A1-BA40-2B6DFAA83CC8}" srcOrd="1" destOrd="0" parTransId="{80376702-74E2-450F-8A5E-5E7A022907D8}" sibTransId="{9FB43DB2-F4C9-4A76-98EB-75E5D36C2EFF}"/>
    <dgm:cxn modelId="{C0C889BB-28D6-4677-8D24-1B9A95676703}" type="presOf" srcId="{7A42C29A-2BCB-40A9-B6CA-FE8C1A2FE552}" destId="{D1F027AC-9D9D-4CF3-9EF9-4FA6FB6D82DD}" srcOrd="0" destOrd="0" presId="urn:microsoft.com/office/officeart/2005/8/layout/process1"/>
    <dgm:cxn modelId="{C6418BD7-3072-4207-BE6C-746BC86AA904}" type="presOf" srcId="{0A4FB772-0D34-4234-9D6D-E19687B7CE58}" destId="{2C33D95D-D0DC-4AE3-9E5E-7E812F184AC5}" srcOrd="0" destOrd="0" presId="urn:microsoft.com/office/officeart/2005/8/layout/process1"/>
    <dgm:cxn modelId="{6C5187DF-4BDF-4D27-A6F8-65F30D4BDB45}" type="presOf" srcId="{0A4FB772-0D34-4234-9D6D-E19687B7CE58}" destId="{A0A6AAA4-1CE0-4533-9F19-5771ECB29B59}" srcOrd="1" destOrd="0" presId="urn:microsoft.com/office/officeart/2005/8/layout/process1"/>
    <dgm:cxn modelId="{2C40FEDF-1487-4A3B-87DA-B46E09F76F0B}" type="presOf" srcId="{25701E02-3150-455A-A6C0-7B0A5F9F2ED1}" destId="{2EB58E15-8F7B-47E8-A93E-ADAFC70B595A}" srcOrd="0" destOrd="0" presId="urn:microsoft.com/office/officeart/2005/8/layout/process1"/>
    <dgm:cxn modelId="{B4EBF2F0-2E06-470D-8E8C-3F6602AE87FD}" type="presOf" srcId="{9FB43DB2-F4C9-4A76-98EB-75E5D36C2EFF}" destId="{E00E07B1-24A7-4254-8367-A1CF50A28865}" srcOrd="1" destOrd="0" presId="urn:microsoft.com/office/officeart/2005/8/layout/process1"/>
    <dgm:cxn modelId="{E05C20E1-E054-4437-9EB3-4172498523C6}" type="presParOf" srcId="{A2526664-0C30-47F5-8792-29FE911D64D3}" destId="{2EB58E15-8F7B-47E8-A93E-ADAFC70B595A}" srcOrd="0" destOrd="0" presId="urn:microsoft.com/office/officeart/2005/8/layout/process1"/>
    <dgm:cxn modelId="{18F32462-6D1F-4E14-8C27-70AF3798E1C0}" type="presParOf" srcId="{A2526664-0C30-47F5-8792-29FE911D64D3}" destId="{51A63AD4-9D46-479F-B3E6-6DB97E9FF0FA}" srcOrd="1" destOrd="0" presId="urn:microsoft.com/office/officeart/2005/8/layout/process1"/>
    <dgm:cxn modelId="{FAA94360-5AA5-4EAF-80AD-EEA3F106F8FC}" type="presParOf" srcId="{51A63AD4-9D46-479F-B3E6-6DB97E9FF0FA}" destId="{7055A7AF-0AAB-4F8C-A9ED-F6B8844E6CF8}" srcOrd="0" destOrd="0" presId="urn:microsoft.com/office/officeart/2005/8/layout/process1"/>
    <dgm:cxn modelId="{5E1F4485-EC7E-4F31-A501-BDD4B2CF3DFA}" type="presParOf" srcId="{A2526664-0C30-47F5-8792-29FE911D64D3}" destId="{ECD8DB68-549B-4106-8FB5-2BCEC1BE717B}" srcOrd="2" destOrd="0" presId="urn:microsoft.com/office/officeart/2005/8/layout/process1"/>
    <dgm:cxn modelId="{FC53378B-AF29-4671-8376-A4D5C78E2F17}" type="presParOf" srcId="{A2526664-0C30-47F5-8792-29FE911D64D3}" destId="{54A34B09-43DC-4DFB-8EE5-9896F757CA16}" srcOrd="3" destOrd="0" presId="urn:microsoft.com/office/officeart/2005/8/layout/process1"/>
    <dgm:cxn modelId="{EBBBFC9B-F7A0-42F8-AF33-5F75DA9335F7}" type="presParOf" srcId="{54A34B09-43DC-4DFB-8EE5-9896F757CA16}" destId="{E00E07B1-24A7-4254-8367-A1CF50A28865}" srcOrd="0" destOrd="0" presId="urn:microsoft.com/office/officeart/2005/8/layout/process1"/>
    <dgm:cxn modelId="{0F1A7CBC-53A1-40A8-AD88-86B1601FA1D4}" type="presParOf" srcId="{A2526664-0C30-47F5-8792-29FE911D64D3}" destId="{3B7B2139-6D64-4A0E-903D-8246A0B8AB7F}" srcOrd="4" destOrd="0" presId="urn:microsoft.com/office/officeart/2005/8/layout/process1"/>
    <dgm:cxn modelId="{A054B643-1554-44A3-9E1C-4678DF6CBEFC}" type="presParOf" srcId="{A2526664-0C30-47F5-8792-29FE911D64D3}" destId="{2C33D95D-D0DC-4AE3-9E5E-7E812F184AC5}" srcOrd="5" destOrd="0" presId="urn:microsoft.com/office/officeart/2005/8/layout/process1"/>
    <dgm:cxn modelId="{3661FA81-6D11-4EBF-B0CD-A8E804146199}" type="presParOf" srcId="{2C33D95D-D0DC-4AE3-9E5E-7E812F184AC5}" destId="{A0A6AAA4-1CE0-4533-9F19-5771ECB29B59}" srcOrd="0" destOrd="0" presId="urn:microsoft.com/office/officeart/2005/8/layout/process1"/>
    <dgm:cxn modelId="{C1EAD659-16BD-4691-AC4B-D99F3BA228E9}" type="presParOf" srcId="{A2526664-0C30-47F5-8792-29FE911D64D3}" destId="{EEBDCFF8-30E1-4357-B332-2D6295726CD4}" srcOrd="6" destOrd="0" presId="urn:microsoft.com/office/officeart/2005/8/layout/process1"/>
    <dgm:cxn modelId="{93069BF5-D2A3-4787-AA01-08D66FC7B85C}" type="presParOf" srcId="{A2526664-0C30-47F5-8792-29FE911D64D3}" destId="{6FE4568C-72C9-405B-822D-902F4C0F35FD}" srcOrd="7" destOrd="0" presId="urn:microsoft.com/office/officeart/2005/8/layout/process1"/>
    <dgm:cxn modelId="{A7484A50-FCD4-498B-9C9C-2E6D2C890225}" type="presParOf" srcId="{6FE4568C-72C9-405B-822D-902F4C0F35FD}" destId="{B40E40CF-CD77-4473-BF40-54B69F50E4D1}" srcOrd="0" destOrd="0" presId="urn:microsoft.com/office/officeart/2005/8/layout/process1"/>
    <dgm:cxn modelId="{9C70CA02-FA41-4DB0-AE3B-1B5AFBC9AF9D}" type="presParOf" srcId="{A2526664-0C30-47F5-8792-29FE911D64D3}" destId="{D1F027AC-9D9D-4CF3-9EF9-4FA6FB6D82DD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06B3C3-38D4-4DBA-9456-9F30A4B18F50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BE2E5D-6DE4-4685-8C7F-5F9A814FD0BA}">
      <dgm:prSet phldrT="[Text]" phldr="0"/>
      <dgm:spPr/>
      <dgm:t>
        <a:bodyPr/>
        <a:lstStyle/>
        <a:p>
          <a:r>
            <a:rPr lang="en-US" dirty="0">
              <a:latin typeface="Georgia" panose="02040502050405020303" pitchFamily="18" charset="0"/>
            </a:rPr>
            <a:t>Week 1</a:t>
          </a:r>
        </a:p>
      </dgm:t>
    </dgm:pt>
    <dgm:pt modelId="{1B70F237-0D64-4E82-902C-22E5413FBCC4}" type="parTrans" cxnId="{7002B5B3-ED33-4334-942C-519904A09B72}">
      <dgm:prSet/>
      <dgm:spPr/>
      <dgm:t>
        <a:bodyPr/>
        <a:lstStyle/>
        <a:p>
          <a:endParaRPr lang="en-US"/>
        </a:p>
      </dgm:t>
    </dgm:pt>
    <dgm:pt modelId="{5CD8C922-C880-4ADD-BA41-790FC18F5119}" type="sibTrans" cxnId="{7002B5B3-ED33-4334-942C-519904A09B72}">
      <dgm:prSet/>
      <dgm:spPr/>
      <dgm:t>
        <a:bodyPr/>
        <a:lstStyle/>
        <a:p>
          <a:endParaRPr lang="en-US"/>
        </a:p>
      </dgm:t>
    </dgm:pt>
    <dgm:pt modelId="{15696DF2-7CC8-467C-9C5C-43748D322CB5}">
      <dgm:prSet phldrT="[Text]"/>
      <dgm:spPr/>
      <dgm:t>
        <a:bodyPr/>
        <a:lstStyle/>
        <a:p>
          <a:pPr>
            <a:buNone/>
          </a:pPr>
          <a:r>
            <a:rPr lang="en-US" b="1" dirty="0">
              <a:latin typeface="Georgia" panose="02040502050405020303" pitchFamily="18" charset="0"/>
            </a:rPr>
            <a:t>Testing &amp; Quality: </a:t>
          </a:r>
          <a:r>
            <a:rPr lang="en-US" dirty="0">
              <a:latin typeface="Georgia" panose="02040502050405020303" pitchFamily="18" charset="0"/>
            </a:rPr>
            <a:t>Unit tests, Integration tests, E2E tests
</a:t>
          </a:r>
          <a:r>
            <a:rPr lang="en-US" b="1" dirty="0">
              <a:latin typeface="Georgia" panose="02040502050405020303" pitchFamily="18" charset="0"/>
            </a:rPr>
            <a:t>Core Features</a:t>
          </a:r>
          <a:r>
            <a:rPr lang="en-US" dirty="0">
              <a:latin typeface="Georgia" panose="02040502050405020303" pitchFamily="18" charset="0"/>
            </a:rPr>
            <a:t>: Focus indicators, Resizable text, Persona flows (Maria, Vishnu, Carol)
</a:t>
          </a:r>
          <a:r>
            <a:rPr lang="en-US" b="1" dirty="0">
              <a:latin typeface="Georgia" panose="02040502050405020303" pitchFamily="18" charset="0"/>
            </a:rPr>
            <a:t>Accessibility</a:t>
          </a:r>
          <a:r>
            <a:rPr lang="en-US" dirty="0">
              <a:latin typeface="Georgia" panose="02040502050405020303" pitchFamily="18" charset="0"/>
            </a:rPr>
            <a:t>: Accessibility tests, Usability features, Color contrast, Screen reader
</a:t>
          </a:r>
          <a:r>
            <a:rPr lang="en-US" b="1" dirty="0">
              <a:latin typeface="Georgia" panose="02040502050405020303" pitchFamily="18" charset="0"/>
            </a:rPr>
            <a:t>Infrastructure</a:t>
          </a:r>
          <a:r>
            <a:rPr lang="en-US" dirty="0">
              <a:latin typeface="Georgia" panose="02040502050405020303" pitchFamily="18" charset="0"/>
            </a:rPr>
            <a:t>: Keyboard nav, GitHub Actions, AWS EC2, PostgreSQL
</a:t>
          </a:r>
          <a:r>
            <a:rPr lang="en-US" b="1" dirty="0">
              <a:latin typeface="Georgia" panose="02040502050405020303" pitchFamily="18" charset="0"/>
            </a:rPr>
            <a:t>Target</a:t>
          </a:r>
          <a:r>
            <a:rPr lang="en-US" dirty="0">
              <a:latin typeface="Georgia" panose="02040502050405020303" pitchFamily="18" charset="0"/>
            </a:rPr>
            <a:t>: ~45-50 story points</a:t>
          </a:r>
        </a:p>
      </dgm:t>
    </dgm:pt>
    <dgm:pt modelId="{495D3EC5-1857-4341-BA9B-01C0072BA773}" type="parTrans" cxnId="{AEFAA9B3-9F62-4252-8D19-7ECF18CD62E9}">
      <dgm:prSet/>
      <dgm:spPr/>
      <dgm:t>
        <a:bodyPr/>
        <a:lstStyle/>
        <a:p>
          <a:endParaRPr lang="en-US"/>
        </a:p>
      </dgm:t>
    </dgm:pt>
    <dgm:pt modelId="{F8A09FB9-1594-4306-9D93-745A65CBFD00}" type="sibTrans" cxnId="{AEFAA9B3-9F62-4252-8D19-7ECF18CD62E9}">
      <dgm:prSet/>
      <dgm:spPr/>
      <dgm:t>
        <a:bodyPr/>
        <a:lstStyle/>
        <a:p>
          <a:endParaRPr lang="en-US"/>
        </a:p>
      </dgm:t>
    </dgm:pt>
    <dgm:pt modelId="{F599E453-CFD3-4F21-848F-29E76DEE3F68}">
      <dgm:prSet phldrT="[Text]" phldr="0"/>
      <dgm:spPr/>
      <dgm:t>
        <a:bodyPr/>
        <a:lstStyle/>
        <a:p>
          <a:r>
            <a:rPr lang="en-US" dirty="0">
              <a:latin typeface="Georgia" panose="02040502050405020303" pitchFamily="18" charset="0"/>
            </a:rPr>
            <a:t>Week 2</a:t>
          </a:r>
        </a:p>
      </dgm:t>
    </dgm:pt>
    <dgm:pt modelId="{E636BCB1-C8F3-4F33-845C-2EEB7D9A52FA}" type="parTrans" cxnId="{CBFED009-3403-41BD-82E0-D446D8346F20}">
      <dgm:prSet/>
      <dgm:spPr/>
      <dgm:t>
        <a:bodyPr/>
        <a:lstStyle/>
        <a:p>
          <a:endParaRPr lang="en-US"/>
        </a:p>
      </dgm:t>
    </dgm:pt>
    <dgm:pt modelId="{38EA4F1C-3340-4183-B4FC-E7E4DA1D55CD}" type="sibTrans" cxnId="{CBFED009-3403-41BD-82E0-D446D8346F20}">
      <dgm:prSet/>
      <dgm:spPr/>
      <dgm:t>
        <a:bodyPr/>
        <a:lstStyle/>
        <a:p>
          <a:endParaRPr lang="en-US"/>
        </a:p>
      </dgm:t>
    </dgm:pt>
    <dgm:pt modelId="{CFD6A4D9-E9D6-400B-B3D2-C3D39E15D91E}">
      <dgm:prSet phldrT="[Text]" custT="1"/>
      <dgm:spPr/>
      <dgm:t>
        <a:bodyPr/>
        <a:lstStyle/>
        <a:p>
          <a:pPr>
            <a:buNone/>
          </a:pPr>
          <a:r>
            <a:rPr lang="en-US" sz="900" b="1" dirty="0">
              <a:latin typeface="Georgia" panose="02040502050405020303" pitchFamily="18" charset="0"/>
            </a:rPr>
            <a:t>Deployment</a:t>
          </a:r>
          <a:r>
            <a:rPr lang="en-US" sz="900" dirty="0">
              <a:latin typeface="Georgia" panose="02040502050405020303" pitchFamily="18" charset="0"/>
            </a:rPr>
            <a:t>: Domain + SSL, Backup strategy, Monitoring
</a:t>
          </a:r>
          <a:r>
            <a:rPr lang="en-US" sz="900" b="1" dirty="0">
              <a:latin typeface="Georgia" panose="02040502050405020303" pitchFamily="18" charset="0"/>
            </a:rPr>
            <a:t>Final Integration</a:t>
          </a:r>
          <a:r>
            <a:rPr lang="en-US" sz="900" dirty="0">
              <a:latin typeface="Georgia" panose="02040502050405020303" pitchFamily="18" charset="0"/>
            </a:rPr>
            <a:t>: API + SaaS integration
</a:t>
          </a:r>
          <a:r>
            <a:rPr lang="en-US" sz="900" b="1" dirty="0">
              <a:latin typeface="Georgia" panose="02040502050405020303" pitchFamily="18" charset="0"/>
            </a:rPr>
            <a:t>Regression Testing</a:t>
          </a:r>
          <a:r>
            <a:rPr lang="en-US" sz="900" dirty="0">
              <a:latin typeface="Georgia" panose="02040502050405020303" pitchFamily="18" charset="0"/>
            </a:rPr>
            <a:t>: Test all Sprint 1 &amp; 2 features, cross-browser, mobile
</a:t>
          </a:r>
          <a:r>
            <a:rPr lang="en-US" sz="900" b="1" dirty="0">
              <a:latin typeface="Georgia" panose="02040502050405020303" pitchFamily="18" charset="0"/>
            </a:rPr>
            <a:t>UI Polish</a:t>
          </a:r>
          <a:r>
            <a:rPr lang="en-US" sz="900" dirty="0">
              <a:latin typeface="Georgia" panose="02040502050405020303" pitchFamily="18" charset="0"/>
            </a:rPr>
            <a:t>: Final adjustments, performance, bug fixes, documentation
</a:t>
          </a:r>
          <a:r>
            <a:rPr lang="en-US" sz="900" b="1" dirty="0">
              <a:latin typeface="Georgia" panose="02040502050405020303" pitchFamily="18" charset="0"/>
            </a:rPr>
            <a:t>Demo Preparation</a:t>
          </a:r>
          <a:r>
            <a:rPr lang="en-US" sz="900" dirty="0">
              <a:latin typeface="Georgia" panose="02040502050405020303" pitchFamily="18" charset="0"/>
            </a:rPr>
            <a:t>: Demo script, practice, slides
</a:t>
          </a:r>
          <a:r>
            <a:rPr lang="en-US" sz="900" b="1" dirty="0">
              <a:latin typeface="Georgia" panose="02040502050405020303" pitchFamily="18" charset="0"/>
            </a:rPr>
            <a:t>Target</a:t>
          </a:r>
          <a:r>
            <a:rPr lang="en-US" sz="900" dirty="0">
              <a:latin typeface="Georgia" panose="02040502050405020303" pitchFamily="18" charset="0"/>
            </a:rPr>
            <a:t>: ~20-25 story points</a:t>
          </a:r>
        </a:p>
      </dgm:t>
    </dgm:pt>
    <dgm:pt modelId="{F58E36A7-6AF2-49DB-87E9-FD23285449FA}" type="parTrans" cxnId="{603D0AA7-B356-4347-8671-E76FDD7A4DD6}">
      <dgm:prSet/>
      <dgm:spPr/>
      <dgm:t>
        <a:bodyPr/>
        <a:lstStyle/>
        <a:p>
          <a:endParaRPr lang="en-US"/>
        </a:p>
      </dgm:t>
    </dgm:pt>
    <dgm:pt modelId="{2AD79E32-EA40-42D3-9D25-E6FA211D0DCE}" type="sibTrans" cxnId="{603D0AA7-B356-4347-8671-E76FDD7A4DD6}">
      <dgm:prSet/>
      <dgm:spPr/>
      <dgm:t>
        <a:bodyPr/>
        <a:lstStyle/>
        <a:p>
          <a:endParaRPr lang="en-US"/>
        </a:p>
      </dgm:t>
    </dgm:pt>
    <dgm:pt modelId="{084ADAB2-9188-4CF0-936F-D95EF8BF7008}">
      <dgm:prSet phldrT="[Text]" phldr="0"/>
      <dgm:spPr/>
      <dgm:t>
        <a:bodyPr/>
        <a:lstStyle/>
        <a:p>
          <a:r>
            <a:rPr lang="en-US" dirty="0">
              <a:latin typeface="Georgia" panose="02040502050405020303" pitchFamily="18" charset="0"/>
            </a:rPr>
            <a:t>Week 3</a:t>
          </a:r>
        </a:p>
      </dgm:t>
    </dgm:pt>
    <dgm:pt modelId="{05C1F65A-68F4-4B99-82C9-601DA18E65F0}" type="parTrans" cxnId="{096E7B19-FFBC-423B-8C79-F8785F25EFBE}">
      <dgm:prSet/>
      <dgm:spPr/>
      <dgm:t>
        <a:bodyPr/>
        <a:lstStyle/>
        <a:p>
          <a:endParaRPr lang="en-US"/>
        </a:p>
      </dgm:t>
    </dgm:pt>
    <dgm:pt modelId="{D5F60D92-4AF2-4BA9-BFEC-5CE6AFB70216}" type="sibTrans" cxnId="{096E7B19-FFBC-423B-8C79-F8785F25EFBE}">
      <dgm:prSet/>
      <dgm:spPr/>
      <dgm:t>
        <a:bodyPr/>
        <a:lstStyle/>
        <a:p>
          <a:endParaRPr lang="en-US"/>
        </a:p>
      </dgm:t>
    </dgm:pt>
    <dgm:pt modelId="{A31B9EE4-37EC-4A5A-8259-4D71F6C8F172}">
      <dgm:prSet phldrT="[Text]" custT="1"/>
      <dgm:spPr/>
      <dgm:t>
        <a:bodyPr/>
        <a:lstStyle/>
        <a:p>
          <a:pPr>
            <a:buNone/>
          </a:pPr>
          <a:r>
            <a:rPr lang="en-US" sz="1100" dirty="0">
              <a:latin typeface="Georgia" panose="02040502050405020303" pitchFamily="18" charset="0"/>
            </a:rPr>
            <a:t>Pre-demo checklist (all features deployed, data populated, etc.)
7-step demo flow outline
Success criteria (192 points complete, WCAG compliance, etc.)</a:t>
          </a:r>
        </a:p>
      </dgm:t>
    </dgm:pt>
    <dgm:pt modelId="{C223F559-42C2-40EC-BA49-D2ABBD8AFFAD}" type="parTrans" cxnId="{598916C5-42AD-41D1-ACB2-54DA43376CB4}">
      <dgm:prSet/>
      <dgm:spPr/>
      <dgm:t>
        <a:bodyPr/>
        <a:lstStyle/>
        <a:p>
          <a:endParaRPr lang="en-US"/>
        </a:p>
      </dgm:t>
    </dgm:pt>
    <dgm:pt modelId="{A1F449B4-01FB-4DBA-9E73-F06B6F018EDA}" type="sibTrans" cxnId="{598916C5-42AD-41D1-ACB2-54DA43376CB4}">
      <dgm:prSet/>
      <dgm:spPr/>
      <dgm:t>
        <a:bodyPr/>
        <a:lstStyle/>
        <a:p>
          <a:endParaRPr lang="en-US"/>
        </a:p>
      </dgm:t>
    </dgm:pt>
    <dgm:pt modelId="{459F3ED1-CF60-4DDE-A530-C7F55D061BB3}" type="pres">
      <dgm:prSet presAssocID="{1006B3C3-38D4-4DBA-9456-9F30A4B18F50}" presName="linearFlow" presStyleCnt="0">
        <dgm:presLayoutVars>
          <dgm:dir/>
          <dgm:animLvl val="lvl"/>
          <dgm:resizeHandles/>
        </dgm:presLayoutVars>
      </dgm:prSet>
      <dgm:spPr/>
    </dgm:pt>
    <dgm:pt modelId="{1A9577C5-4A86-4BD3-8A1C-52B87BB477D4}" type="pres">
      <dgm:prSet presAssocID="{CFBE2E5D-6DE4-4685-8C7F-5F9A814FD0BA}" presName="compositeNode" presStyleCnt="0">
        <dgm:presLayoutVars>
          <dgm:bulletEnabled val="1"/>
        </dgm:presLayoutVars>
      </dgm:prSet>
      <dgm:spPr/>
    </dgm:pt>
    <dgm:pt modelId="{AA5E8BB9-5EC7-40DD-9B1B-087B38DDA4A2}" type="pres">
      <dgm:prSet presAssocID="{CFBE2E5D-6DE4-4685-8C7F-5F9A814FD0BA}" presName="image" presStyleLbl="fgImgPlace1" presStyleIdx="0" presStyleCnt="3" custLinFactX="10112" custLinFactNeighborX="100000" custLinFactNeighborY="-9512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 with solid fill"/>
        </a:ext>
      </dgm:extLst>
    </dgm:pt>
    <dgm:pt modelId="{159DC45E-437C-4599-8AEF-EEFDD4CF76B8}" type="pres">
      <dgm:prSet presAssocID="{CFBE2E5D-6DE4-4685-8C7F-5F9A814FD0BA}" presName="childNode" presStyleLbl="node1" presStyleIdx="0" presStyleCnt="3" custScaleX="218850" custScaleY="107416">
        <dgm:presLayoutVars>
          <dgm:bulletEnabled val="1"/>
        </dgm:presLayoutVars>
      </dgm:prSet>
      <dgm:spPr/>
    </dgm:pt>
    <dgm:pt modelId="{2B5ADD2F-1EAB-416C-9E38-9A2A4B0A4BBB}" type="pres">
      <dgm:prSet presAssocID="{CFBE2E5D-6DE4-4685-8C7F-5F9A814FD0BA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A33EAD0B-7833-4008-AF2E-6A8790632C25}" type="pres">
      <dgm:prSet presAssocID="{5CD8C922-C880-4ADD-BA41-790FC18F5119}" presName="sibTrans" presStyleCnt="0"/>
      <dgm:spPr/>
    </dgm:pt>
    <dgm:pt modelId="{E99B39B1-D8DB-486B-8092-DAB9EC7CC0CE}" type="pres">
      <dgm:prSet presAssocID="{F599E453-CFD3-4F21-848F-29E76DEE3F68}" presName="compositeNode" presStyleCnt="0">
        <dgm:presLayoutVars>
          <dgm:bulletEnabled val="1"/>
        </dgm:presLayoutVars>
      </dgm:prSet>
      <dgm:spPr/>
    </dgm:pt>
    <dgm:pt modelId="{F0022A92-0510-4468-A3C6-EE092042CADB}" type="pres">
      <dgm:prSet presAssocID="{F599E453-CFD3-4F21-848F-29E76DEE3F68}" presName="image" presStyleLbl="fgImgPlace1" presStyleIdx="1" presStyleCnt="3" custLinFactX="10112" custLinFactNeighborX="100000" custLinFactNeighborY="-9512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jector with solid fill"/>
        </a:ext>
      </dgm:extLst>
    </dgm:pt>
    <dgm:pt modelId="{298EE59D-6829-4E08-BC3C-C3D636BA64EF}" type="pres">
      <dgm:prSet presAssocID="{F599E453-CFD3-4F21-848F-29E76DEE3F68}" presName="childNode" presStyleLbl="node1" presStyleIdx="1" presStyleCnt="3" custScaleX="218850" custScaleY="107416">
        <dgm:presLayoutVars>
          <dgm:bulletEnabled val="1"/>
        </dgm:presLayoutVars>
      </dgm:prSet>
      <dgm:spPr/>
    </dgm:pt>
    <dgm:pt modelId="{D3A3FF4F-CFF8-4282-BE57-635C2C58665E}" type="pres">
      <dgm:prSet presAssocID="{F599E453-CFD3-4F21-848F-29E76DEE3F68}" presName="parentNode" presStyleLbl="revTx" presStyleIdx="1" presStyleCnt="3">
        <dgm:presLayoutVars>
          <dgm:chMax val="0"/>
          <dgm:bulletEnabled val="1"/>
        </dgm:presLayoutVars>
      </dgm:prSet>
      <dgm:spPr/>
    </dgm:pt>
    <dgm:pt modelId="{E1C114B0-A3A2-4209-916B-A6B36BD9A712}" type="pres">
      <dgm:prSet presAssocID="{38EA4F1C-3340-4183-B4FC-E7E4DA1D55CD}" presName="sibTrans" presStyleCnt="0"/>
      <dgm:spPr/>
    </dgm:pt>
    <dgm:pt modelId="{D84B72D5-724E-4BD3-B0BB-9C9BA1D0B1E4}" type="pres">
      <dgm:prSet presAssocID="{084ADAB2-9188-4CF0-936F-D95EF8BF7008}" presName="compositeNode" presStyleCnt="0">
        <dgm:presLayoutVars>
          <dgm:bulletEnabled val="1"/>
        </dgm:presLayoutVars>
      </dgm:prSet>
      <dgm:spPr/>
    </dgm:pt>
    <dgm:pt modelId="{5BF6BCF7-FB5B-4F44-91D5-1069A60D812D}" type="pres">
      <dgm:prSet presAssocID="{084ADAB2-9188-4CF0-936F-D95EF8BF7008}" presName="image" presStyleLbl="fgImgPlace1" presStyleIdx="2" presStyleCnt="3" custLinFactX="10112" custLinFactNeighborX="100000" custLinFactNeighborY="-95122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 from home desk with solid fill"/>
        </a:ext>
      </dgm:extLst>
    </dgm:pt>
    <dgm:pt modelId="{F27AA7DE-C0D4-4A29-90B5-843F58ACCE90}" type="pres">
      <dgm:prSet presAssocID="{084ADAB2-9188-4CF0-936F-D95EF8BF7008}" presName="childNode" presStyleLbl="node1" presStyleIdx="2" presStyleCnt="3" custScaleX="218850" custScaleY="107416">
        <dgm:presLayoutVars>
          <dgm:bulletEnabled val="1"/>
        </dgm:presLayoutVars>
      </dgm:prSet>
      <dgm:spPr/>
    </dgm:pt>
    <dgm:pt modelId="{E15A0EFD-D900-4981-9303-DEB6E3ABCF48}" type="pres">
      <dgm:prSet presAssocID="{084ADAB2-9188-4CF0-936F-D95EF8BF7008}" presName="parentNode" presStyleLbl="revTx" presStyleIdx="2" presStyleCnt="3">
        <dgm:presLayoutVars>
          <dgm:chMax val="0"/>
          <dgm:bulletEnabled val="1"/>
        </dgm:presLayoutVars>
      </dgm:prSet>
      <dgm:spPr/>
    </dgm:pt>
  </dgm:ptLst>
  <dgm:cxnLst>
    <dgm:cxn modelId="{CBFED009-3403-41BD-82E0-D446D8346F20}" srcId="{1006B3C3-38D4-4DBA-9456-9F30A4B18F50}" destId="{F599E453-CFD3-4F21-848F-29E76DEE3F68}" srcOrd="1" destOrd="0" parTransId="{E636BCB1-C8F3-4F33-845C-2EEB7D9A52FA}" sibTransId="{38EA4F1C-3340-4183-B4FC-E7E4DA1D55CD}"/>
    <dgm:cxn modelId="{096E7B19-FFBC-423B-8C79-F8785F25EFBE}" srcId="{1006B3C3-38D4-4DBA-9456-9F30A4B18F50}" destId="{084ADAB2-9188-4CF0-936F-D95EF8BF7008}" srcOrd="2" destOrd="0" parTransId="{05C1F65A-68F4-4B99-82C9-601DA18E65F0}" sibTransId="{D5F60D92-4AF2-4BA9-BFEC-5CE6AFB70216}"/>
    <dgm:cxn modelId="{67383F1A-D8A1-4FFC-9D89-62AF2544A9F1}" type="presOf" srcId="{CFD6A4D9-E9D6-400B-B3D2-C3D39E15D91E}" destId="{298EE59D-6829-4E08-BC3C-C3D636BA64EF}" srcOrd="0" destOrd="0" presId="urn:microsoft.com/office/officeart/2005/8/layout/hList2"/>
    <dgm:cxn modelId="{7DAE7A3F-A0BB-4CCB-A345-490BCBC30B10}" type="presOf" srcId="{A31B9EE4-37EC-4A5A-8259-4D71F6C8F172}" destId="{F27AA7DE-C0D4-4A29-90B5-843F58ACCE90}" srcOrd="0" destOrd="0" presId="urn:microsoft.com/office/officeart/2005/8/layout/hList2"/>
    <dgm:cxn modelId="{917D246A-18B3-4A1F-B0F3-A878AA5FEB5B}" type="presOf" srcId="{F599E453-CFD3-4F21-848F-29E76DEE3F68}" destId="{D3A3FF4F-CFF8-4282-BE57-635C2C58665E}" srcOrd="0" destOrd="0" presId="urn:microsoft.com/office/officeart/2005/8/layout/hList2"/>
    <dgm:cxn modelId="{95DD2E8C-C64F-439F-9ABC-0801D54E59F1}" type="presOf" srcId="{084ADAB2-9188-4CF0-936F-D95EF8BF7008}" destId="{E15A0EFD-D900-4981-9303-DEB6E3ABCF48}" srcOrd="0" destOrd="0" presId="urn:microsoft.com/office/officeart/2005/8/layout/hList2"/>
    <dgm:cxn modelId="{603D0AA7-B356-4347-8671-E76FDD7A4DD6}" srcId="{F599E453-CFD3-4F21-848F-29E76DEE3F68}" destId="{CFD6A4D9-E9D6-400B-B3D2-C3D39E15D91E}" srcOrd="0" destOrd="0" parTransId="{F58E36A7-6AF2-49DB-87E9-FD23285449FA}" sibTransId="{2AD79E32-EA40-42D3-9D25-E6FA211D0DCE}"/>
    <dgm:cxn modelId="{AEFAA9B3-9F62-4252-8D19-7ECF18CD62E9}" srcId="{CFBE2E5D-6DE4-4685-8C7F-5F9A814FD0BA}" destId="{15696DF2-7CC8-467C-9C5C-43748D322CB5}" srcOrd="0" destOrd="0" parTransId="{495D3EC5-1857-4341-BA9B-01C0072BA773}" sibTransId="{F8A09FB9-1594-4306-9D93-745A65CBFD00}"/>
    <dgm:cxn modelId="{7002B5B3-ED33-4334-942C-519904A09B72}" srcId="{1006B3C3-38D4-4DBA-9456-9F30A4B18F50}" destId="{CFBE2E5D-6DE4-4685-8C7F-5F9A814FD0BA}" srcOrd="0" destOrd="0" parTransId="{1B70F237-0D64-4E82-902C-22E5413FBCC4}" sibTransId="{5CD8C922-C880-4ADD-BA41-790FC18F5119}"/>
    <dgm:cxn modelId="{598916C5-42AD-41D1-ACB2-54DA43376CB4}" srcId="{084ADAB2-9188-4CF0-936F-D95EF8BF7008}" destId="{A31B9EE4-37EC-4A5A-8259-4D71F6C8F172}" srcOrd="0" destOrd="0" parTransId="{C223F559-42C2-40EC-BA49-D2ABBD8AFFAD}" sibTransId="{A1F449B4-01FB-4DBA-9E73-F06B6F018EDA}"/>
    <dgm:cxn modelId="{022437DC-55B6-4B46-A061-4891BCC66FC7}" type="presOf" srcId="{1006B3C3-38D4-4DBA-9456-9F30A4B18F50}" destId="{459F3ED1-CF60-4DDE-A530-C7F55D061BB3}" srcOrd="0" destOrd="0" presId="urn:microsoft.com/office/officeart/2005/8/layout/hList2"/>
    <dgm:cxn modelId="{FF2FE9EE-336E-41F0-AE60-9A7B057D4D40}" type="presOf" srcId="{CFBE2E5D-6DE4-4685-8C7F-5F9A814FD0BA}" destId="{2B5ADD2F-1EAB-416C-9E38-9A2A4B0A4BBB}" srcOrd="0" destOrd="0" presId="urn:microsoft.com/office/officeart/2005/8/layout/hList2"/>
    <dgm:cxn modelId="{FCE1FCFD-DBBE-4304-8182-E03BC4E32FF1}" type="presOf" srcId="{15696DF2-7CC8-467C-9C5C-43748D322CB5}" destId="{159DC45E-437C-4599-8AEF-EEFDD4CF76B8}" srcOrd="0" destOrd="0" presId="urn:microsoft.com/office/officeart/2005/8/layout/hList2"/>
    <dgm:cxn modelId="{8CE9A346-EC04-45EA-8110-1681C2C08DC7}" type="presParOf" srcId="{459F3ED1-CF60-4DDE-A530-C7F55D061BB3}" destId="{1A9577C5-4A86-4BD3-8A1C-52B87BB477D4}" srcOrd="0" destOrd="0" presId="urn:microsoft.com/office/officeart/2005/8/layout/hList2"/>
    <dgm:cxn modelId="{57C65A01-3A63-4720-9256-F4D230D44116}" type="presParOf" srcId="{1A9577C5-4A86-4BD3-8A1C-52B87BB477D4}" destId="{AA5E8BB9-5EC7-40DD-9B1B-087B38DDA4A2}" srcOrd="0" destOrd="0" presId="urn:microsoft.com/office/officeart/2005/8/layout/hList2"/>
    <dgm:cxn modelId="{9CE008FC-210E-4FB9-968A-5D9D18C0B9DF}" type="presParOf" srcId="{1A9577C5-4A86-4BD3-8A1C-52B87BB477D4}" destId="{159DC45E-437C-4599-8AEF-EEFDD4CF76B8}" srcOrd="1" destOrd="0" presId="urn:microsoft.com/office/officeart/2005/8/layout/hList2"/>
    <dgm:cxn modelId="{042FB169-13C9-4A0A-B3CF-516D4B34E8CA}" type="presParOf" srcId="{1A9577C5-4A86-4BD3-8A1C-52B87BB477D4}" destId="{2B5ADD2F-1EAB-416C-9E38-9A2A4B0A4BBB}" srcOrd="2" destOrd="0" presId="urn:microsoft.com/office/officeart/2005/8/layout/hList2"/>
    <dgm:cxn modelId="{5C808D2F-4487-40BA-B6DC-6868860EDBD6}" type="presParOf" srcId="{459F3ED1-CF60-4DDE-A530-C7F55D061BB3}" destId="{A33EAD0B-7833-4008-AF2E-6A8790632C25}" srcOrd="1" destOrd="0" presId="urn:microsoft.com/office/officeart/2005/8/layout/hList2"/>
    <dgm:cxn modelId="{9C478230-43D1-4BAA-869E-74E46AD6A99A}" type="presParOf" srcId="{459F3ED1-CF60-4DDE-A530-C7F55D061BB3}" destId="{E99B39B1-D8DB-486B-8092-DAB9EC7CC0CE}" srcOrd="2" destOrd="0" presId="urn:microsoft.com/office/officeart/2005/8/layout/hList2"/>
    <dgm:cxn modelId="{75E1F097-8395-4FCE-8251-EE552F957C2A}" type="presParOf" srcId="{E99B39B1-D8DB-486B-8092-DAB9EC7CC0CE}" destId="{F0022A92-0510-4468-A3C6-EE092042CADB}" srcOrd="0" destOrd="0" presId="urn:microsoft.com/office/officeart/2005/8/layout/hList2"/>
    <dgm:cxn modelId="{ABCF942F-93C1-4B16-879F-DEB045CECBE1}" type="presParOf" srcId="{E99B39B1-D8DB-486B-8092-DAB9EC7CC0CE}" destId="{298EE59D-6829-4E08-BC3C-C3D636BA64EF}" srcOrd="1" destOrd="0" presId="urn:microsoft.com/office/officeart/2005/8/layout/hList2"/>
    <dgm:cxn modelId="{768452E9-830E-4D31-A48E-FD2EF4FDB3CD}" type="presParOf" srcId="{E99B39B1-D8DB-486B-8092-DAB9EC7CC0CE}" destId="{D3A3FF4F-CFF8-4282-BE57-635C2C58665E}" srcOrd="2" destOrd="0" presId="urn:microsoft.com/office/officeart/2005/8/layout/hList2"/>
    <dgm:cxn modelId="{C0A484F1-561B-4132-AF4B-E61ED85D8EA9}" type="presParOf" srcId="{459F3ED1-CF60-4DDE-A530-C7F55D061BB3}" destId="{E1C114B0-A3A2-4209-916B-A6B36BD9A712}" srcOrd="3" destOrd="0" presId="urn:microsoft.com/office/officeart/2005/8/layout/hList2"/>
    <dgm:cxn modelId="{62F864CE-6133-40A7-983A-D1DD2E64B730}" type="presParOf" srcId="{459F3ED1-CF60-4DDE-A530-C7F55D061BB3}" destId="{D84B72D5-724E-4BD3-B0BB-9C9BA1D0B1E4}" srcOrd="4" destOrd="0" presId="urn:microsoft.com/office/officeart/2005/8/layout/hList2"/>
    <dgm:cxn modelId="{315A952E-B358-4CDB-AC80-8EEB6623DFAD}" type="presParOf" srcId="{D84B72D5-724E-4BD3-B0BB-9C9BA1D0B1E4}" destId="{5BF6BCF7-FB5B-4F44-91D5-1069A60D812D}" srcOrd="0" destOrd="0" presId="urn:microsoft.com/office/officeart/2005/8/layout/hList2"/>
    <dgm:cxn modelId="{1818ECDB-793B-415E-BF4E-9178401DFCDB}" type="presParOf" srcId="{D84B72D5-724E-4BD3-B0BB-9C9BA1D0B1E4}" destId="{F27AA7DE-C0D4-4A29-90B5-843F58ACCE90}" srcOrd="1" destOrd="0" presId="urn:microsoft.com/office/officeart/2005/8/layout/hList2"/>
    <dgm:cxn modelId="{BE79EA48-9881-41BF-804D-0F357046E0C4}" type="presParOf" srcId="{D84B72D5-724E-4BD3-B0BB-9C9BA1D0B1E4}" destId="{E15A0EFD-D900-4981-9303-DEB6E3ABCF48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58E15-8F7B-47E8-A93E-ADAFC70B595A}">
      <dsp:nvSpPr>
        <dsp:cNvPr id="0" name=""/>
        <dsp:cNvSpPr/>
      </dsp:nvSpPr>
      <dsp:spPr>
        <a:xfrm>
          <a:off x="3350" y="1971412"/>
          <a:ext cx="1038749" cy="6232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User</a:t>
          </a:r>
        </a:p>
      </dsp:txBody>
      <dsp:txXfrm>
        <a:off x="21604" y="1989666"/>
        <a:ext cx="1002241" cy="586741"/>
      </dsp:txXfrm>
    </dsp:sp>
    <dsp:sp modelId="{51A63AD4-9D46-479F-B3E6-6DB97E9FF0FA}">
      <dsp:nvSpPr>
        <dsp:cNvPr id="0" name=""/>
        <dsp:cNvSpPr/>
      </dsp:nvSpPr>
      <dsp:spPr>
        <a:xfrm>
          <a:off x="1145975" y="2154232"/>
          <a:ext cx="220214" cy="2576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145975" y="2205754"/>
        <a:ext cx="154150" cy="154565"/>
      </dsp:txXfrm>
    </dsp:sp>
    <dsp:sp modelId="{ECD8DB68-549B-4106-8FB5-2BCEC1BE717B}">
      <dsp:nvSpPr>
        <dsp:cNvPr id="0" name=""/>
        <dsp:cNvSpPr/>
      </dsp:nvSpPr>
      <dsp:spPr>
        <a:xfrm>
          <a:off x="1457599" y="1971412"/>
          <a:ext cx="1038749" cy="6232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Google Login</a:t>
          </a:r>
        </a:p>
      </dsp:txBody>
      <dsp:txXfrm>
        <a:off x="1475853" y="1989666"/>
        <a:ext cx="1002241" cy="586741"/>
      </dsp:txXfrm>
    </dsp:sp>
    <dsp:sp modelId="{54A34B09-43DC-4DFB-8EE5-9896F757CA16}">
      <dsp:nvSpPr>
        <dsp:cNvPr id="0" name=""/>
        <dsp:cNvSpPr/>
      </dsp:nvSpPr>
      <dsp:spPr>
        <a:xfrm>
          <a:off x="2600224" y="2154232"/>
          <a:ext cx="220214" cy="2576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600224" y="2205754"/>
        <a:ext cx="154150" cy="154565"/>
      </dsp:txXfrm>
    </dsp:sp>
    <dsp:sp modelId="{3B7B2139-6D64-4A0E-903D-8246A0B8AB7F}">
      <dsp:nvSpPr>
        <dsp:cNvPr id="0" name=""/>
        <dsp:cNvSpPr/>
      </dsp:nvSpPr>
      <dsp:spPr>
        <a:xfrm>
          <a:off x="2911848" y="1971412"/>
          <a:ext cx="1038749" cy="6232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OAuth Token</a:t>
          </a:r>
        </a:p>
      </dsp:txBody>
      <dsp:txXfrm>
        <a:off x="2930102" y="1989666"/>
        <a:ext cx="1002241" cy="586741"/>
      </dsp:txXfrm>
    </dsp:sp>
    <dsp:sp modelId="{2C33D95D-D0DC-4AE3-9E5E-7E812F184AC5}">
      <dsp:nvSpPr>
        <dsp:cNvPr id="0" name=""/>
        <dsp:cNvSpPr/>
      </dsp:nvSpPr>
      <dsp:spPr>
        <a:xfrm>
          <a:off x="4054473" y="2154232"/>
          <a:ext cx="220214" cy="2576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054473" y="2205754"/>
        <a:ext cx="154150" cy="154565"/>
      </dsp:txXfrm>
    </dsp:sp>
    <dsp:sp modelId="{EEBDCFF8-30E1-4357-B332-2D6295726CD4}">
      <dsp:nvSpPr>
        <dsp:cNvPr id="0" name=""/>
        <dsp:cNvSpPr/>
      </dsp:nvSpPr>
      <dsp:spPr>
        <a:xfrm>
          <a:off x="4366097" y="1971412"/>
          <a:ext cx="1038749" cy="6232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Backend Verification</a:t>
          </a:r>
        </a:p>
      </dsp:txBody>
      <dsp:txXfrm>
        <a:off x="4384351" y="1989666"/>
        <a:ext cx="1002241" cy="586741"/>
      </dsp:txXfrm>
    </dsp:sp>
    <dsp:sp modelId="{6FE4568C-72C9-405B-822D-902F4C0F35FD}">
      <dsp:nvSpPr>
        <dsp:cNvPr id="0" name=""/>
        <dsp:cNvSpPr/>
      </dsp:nvSpPr>
      <dsp:spPr>
        <a:xfrm>
          <a:off x="5508722" y="2154232"/>
          <a:ext cx="220214" cy="2576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5508722" y="2205754"/>
        <a:ext cx="154150" cy="154565"/>
      </dsp:txXfrm>
    </dsp:sp>
    <dsp:sp modelId="{D1F027AC-9D9D-4CF3-9EF9-4FA6FB6D82DD}">
      <dsp:nvSpPr>
        <dsp:cNvPr id="0" name=""/>
        <dsp:cNvSpPr/>
      </dsp:nvSpPr>
      <dsp:spPr>
        <a:xfrm>
          <a:off x="5820346" y="1971412"/>
          <a:ext cx="1038749" cy="6232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Dashboard Access</a:t>
          </a:r>
        </a:p>
      </dsp:txBody>
      <dsp:txXfrm>
        <a:off x="5838600" y="1989666"/>
        <a:ext cx="1002241" cy="5867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5ADD2F-1EAB-416C-9E38-9A2A4B0A4BBB}">
      <dsp:nvSpPr>
        <dsp:cNvPr id="0" name=""/>
        <dsp:cNvSpPr/>
      </dsp:nvSpPr>
      <dsp:spPr>
        <a:xfrm rot="16200000">
          <a:off x="-1046846" y="1907680"/>
          <a:ext cx="3029679" cy="13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19883" bIns="0" numCol="1" spcCol="1270" anchor="t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Georgia" panose="02040502050405020303" pitchFamily="18" charset="0"/>
            </a:rPr>
            <a:t>Week 1</a:t>
          </a:r>
        </a:p>
      </dsp:txBody>
      <dsp:txXfrm>
        <a:off x="-1046846" y="1907680"/>
        <a:ext cx="3029679" cy="135930"/>
      </dsp:txXfrm>
    </dsp:sp>
    <dsp:sp modelId="{159DC45E-437C-4599-8AEF-EEFDD4CF76B8}">
      <dsp:nvSpPr>
        <dsp:cNvPr id="0" name=""/>
        <dsp:cNvSpPr/>
      </dsp:nvSpPr>
      <dsp:spPr>
        <a:xfrm>
          <a:off x="133604" y="348465"/>
          <a:ext cx="1481786" cy="32543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119883" rIns="92456" bIns="92456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000" b="1" kern="1200" dirty="0">
              <a:latin typeface="Georgia" panose="02040502050405020303" pitchFamily="18" charset="0"/>
            </a:rPr>
            <a:t>Testing &amp; Quality: </a:t>
          </a:r>
          <a:r>
            <a:rPr lang="en-US" sz="1000" kern="1200" dirty="0">
              <a:latin typeface="Georgia" panose="02040502050405020303" pitchFamily="18" charset="0"/>
            </a:rPr>
            <a:t>Unit tests, Integration tests, E2E tests
</a:t>
          </a:r>
          <a:r>
            <a:rPr lang="en-US" sz="1000" b="1" kern="1200" dirty="0">
              <a:latin typeface="Georgia" panose="02040502050405020303" pitchFamily="18" charset="0"/>
            </a:rPr>
            <a:t>Core Features</a:t>
          </a:r>
          <a:r>
            <a:rPr lang="en-US" sz="1000" kern="1200" dirty="0">
              <a:latin typeface="Georgia" panose="02040502050405020303" pitchFamily="18" charset="0"/>
            </a:rPr>
            <a:t>: Focus indicators, Resizable text, Persona flows (Maria, Vishnu, Carol)
</a:t>
          </a:r>
          <a:r>
            <a:rPr lang="en-US" sz="1000" b="1" kern="1200" dirty="0">
              <a:latin typeface="Georgia" panose="02040502050405020303" pitchFamily="18" charset="0"/>
            </a:rPr>
            <a:t>Accessibility</a:t>
          </a:r>
          <a:r>
            <a:rPr lang="en-US" sz="1000" kern="1200" dirty="0">
              <a:latin typeface="Georgia" panose="02040502050405020303" pitchFamily="18" charset="0"/>
            </a:rPr>
            <a:t>: Accessibility tests, Usability features, Color contrast, Screen reader
</a:t>
          </a:r>
          <a:r>
            <a:rPr lang="en-US" sz="1000" b="1" kern="1200" dirty="0">
              <a:latin typeface="Georgia" panose="02040502050405020303" pitchFamily="18" charset="0"/>
            </a:rPr>
            <a:t>Infrastructure</a:t>
          </a:r>
          <a:r>
            <a:rPr lang="en-US" sz="1000" kern="1200" dirty="0">
              <a:latin typeface="Georgia" panose="02040502050405020303" pitchFamily="18" charset="0"/>
            </a:rPr>
            <a:t>: Keyboard nav, GitHub Actions, AWS EC2, PostgreSQL
</a:t>
          </a:r>
          <a:r>
            <a:rPr lang="en-US" sz="1000" b="1" kern="1200" dirty="0">
              <a:latin typeface="Georgia" panose="02040502050405020303" pitchFamily="18" charset="0"/>
            </a:rPr>
            <a:t>Target</a:t>
          </a:r>
          <a:r>
            <a:rPr lang="en-US" sz="1000" kern="1200" dirty="0">
              <a:latin typeface="Georgia" panose="02040502050405020303" pitchFamily="18" charset="0"/>
            </a:rPr>
            <a:t>: ~45-50 story points</a:t>
          </a:r>
        </a:p>
      </dsp:txBody>
      <dsp:txXfrm>
        <a:off x="133604" y="348465"/>
        <a:ext cx="1481786" cy="3254360"/>
      </dsp:txXfrm>
    </dsp:sp>
    <dsp:sp modelId="{AA5E8BB9-5EC7-40DD-9B1B-087B38DDA4A2}">
      <dsp:nvSpPr>
        <dsp:cNvPr id="0" name=""/>
        <dsp:cNvSpPr/>
      </dsp:nvSpPr>
      <dsp:spPr>
        <a:xfrm>
          <a:off x="699379" y="22778"/>
          <a:ext cx="271861" cy="2718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A3FF4F-CFF8-4282-BE57-635C2C58665E}">
      <dsp:nvSpPr>
        <dsp:cNvPr id="0" name=""/>
        <dsp:cNvSpPr/>
      </dsp:nvSpPr>
      <dsp:spPr>
        <a:xfrm rot="16200000">
          <a:off x="603597" y="1907680"/>
          <a:ext cx="3029679" cy="13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19883" bIns="0" numCol="1" spcCol="1270" anchor="t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Georgia" panose="02040502050405020303" pitchFamily="18" charset="0"/>
            </a:rPr>
            <a:t>Week 2</a:t>
          </a:r>
        </a:p>
      </dsp:txBody>
      <dsp:txXfrm>
        <a:off x="603597" y="1907680"/>
        <a:ext cx="3029679" cy="135930"/>
      </dsp:txXfrm>
    </dsp:sp>
    <dsp:sp modelId="{298EE59D-6829-4E08-BC3C-C3D636BA64EF}">
      <dsp:nvSpPr>
        <dsp:cNvPr id="0" name=""/>
        <dsp:cNvSpPr/>
      </dsp:nvSpPr>
      <dsp:spPr>
        <a:xfrm>
          <a:off x="1784048" y="348465"/>
          <a:ext cx="1481786" cy="32543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119883" rIns="64008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b="1" kern="1200" dirty="0">
              <a:latin typeface="Georgia" panose="02040502050405020303" pitchFamily="18" charset="0"/>
            </a:rPr>
            <a:t>Deployment</a:t>
          </a:r>
          <a:r>
            <a:rPr lang="en-US" sz="900" kern="1200" dirty="0">
              <a:latin typeface="Georgia" panose="02040502050405020303" pitchFamily="18" charset="0"/>
            </a:rPr>
            <a:t>: Domain + SSL, Backup strategy, Monitoring
</a:t>
          </a:r>
          <a:r>
            <a:rPr lang="en-US" sz="900" b="1" kern="1200" dirty="0">
              <a:latin typeface="Georgia" panose="02040502050405020303" pitchFamily="18" charset="0"/>
            </a:rPr>
            <a:t>Final Integration</a:t>
          </a:r>
          <a:r>
            <a:rPr lang="en-US" sz="900" kern="1200" dirty="0">
              <a:latin typeface="Georgia" panose="02040502050405020303" pitchFamily="18" charset="0"/>
            </a:rPr>
            <a:t>: API + SaaS integration
</a:t>
          </a:r>
          <a:r>
            <a:rPr lang="en-US" sz="900" b="1" kern="1200" dirty="0">
              <a:latin typeface="Georgia" panose="02040502050405020303" pitchFamily="18" charset="0"/>
            </a:rPr>
            <a:t>Regression Testing</a:t>
          </a:r>
          <a:r>
            <a:rPr lang="en-US" sz="900" kern="1200" dirty="0">
              <a:latin typeface="Georgia" panose="02040502050405020303" pitchFamily="18" charset="0"/>
            </a:rPr>
            <a:t>: Test all Sprint 1 &amp; 2 features, cross-browser, mobile
</a:t>
          </a:r>
          <a:r>
            <a:rPr lang="en-US" sz="900" b="1" kern="1200" dirty="0">
              <a:latin typeface="Georgia" panose="02040502050405020303" pitchFamily="18" charset="0"/>
            </a:rPr>
            <a:t>UI Polish</a:t>
          </a:r>
          <a:r>
            <a:rPr lang="en-US" sz="900" kern="1200" dirty="0">
              <a:latin typeface="Georgia" panose="02040502050405020303" pitchFamily="18" charset="0"/>
            </a:rPr>
            <a:t>: Final adjustments, performance, bug fixes, documentation
</a:t>
          </a:r>
          <a:r>
            <a:rPr lang="en-US" sz="900" b="1" kern="1200" dirty="0">
              <a:latin typeface="Georgia" panose="02040502050405020303" pitchFamily="18" charset="0"/>
            </a:rPr>
            <a:t>Demo Preparation</a:t>
          </a:r>
          <a:r>
            <a:rPr lang="en-US" sz="900" kern="1200" dirty="0">
              <a:latin typeface="Georgia" panose="02040502050405020303" pitchFamily="18" charset="0"/>
            </a:rPr>
            <a:t>: Demo script, practice, slides
</a:t>
          </a:r>
          <a:r>
            <a:rPr lang="en-US" sz="900" b="1" kern="1200" dirty="0">
              <a:latin typeface="Georgia" panose="02040502050405020303" pitchFamily="18" charset="0"/>
            </a:rPr>
            <a:t>Target</a:t>
          </a:r>
          <a:r>
            <a:rPr lang="en-US" sz="900" kern="1200" dirty="0">
              <a:latin typeface="Georgia" panose="02040502050405020303" pitchFamily="18" charset="0"/>
            </a:rPr>
            <a:t>: ~20-25 story points</a:t>
          </a:r>
        </a:p>
      </dsp:txBody>
      <dsp:txXfrm>
        <a:off x="1784048" y="348465"/>
        <a:ext cx="1481786" cy="3254360"/>
      </dsp:txXfrm>
    </dsp:sp>
    <dsp:sp modelId="{F0022A92-0510-4468-A3C6-EE092042CADB}">
      <dsp:nvSpPr>
        <dsp:cNvPr id="0" name=""/>
        <dsp:cNvSpPr/>
      </dsp:nvSpPr>
      <dsp:spPr>
        <a:xfrm>
          <a:off x="2349823" y="22778"/>
          <a:ext cx="271861" cy="2718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A0EFD-D900-4981-9303-DEB6E3ABCF48}">
      <dsp:nvSpPr>
        <dsp:cNvPr id="0" name=""/>
        <dsp:cNvSpPr/>
      </dsp:nvSpPr>
      <dsp:spPr>
        <a:xfrm rot="16200000">
          <a:off x="2254041" y="1907680"/>
          <a:ext cx="3029679" cy="13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19883" bIns="0" numCol="1" spcCol="1270" anchor="t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Georgia" panose="02040502050405020303" pitchFamily="18" charset="0"/>
            </a:rPr>
            <a:t>Week 3</a:t>
          </a:r>
        </a:p>
      </dsp:txBody>
      <dsp:txXfrm>
        <a:off x="2254041" y="1907680"/>
        <a:ext cx="3029679" cy="135930"/>
      </dsp:txXfrm>
    </dsp:sp>
    <dsp:sp modelId="{F27AA7DE-C0D4-4A29-90B5-843F58ACCE90}">
      <dsp:nvSpPr>
        <dsp:cNvPr id="0" name=""/>
        <dsp:cNvSpPr/>
      </dsp:nvSpPr>
      <dsp:spPr>
        <a:xfrm>
          <a:off x="3434492" y="348465"/>
          <a:ext cx="1481786" cy="32543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119883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>
              <a:latin typeface="Georgia" panose="02040502050405020303" pitchFamily="18" charset="0"/>
            </a:rPr>
            <a:t>Pre-demo checklist (all features deployed, data populated, etc.)
7-step demo flow outline
Success criteria (192 points complete, WCAG compliance, etc.)</a:t>
          </a:r>
        </a:p>
      </dsp:txBody>
      <dsp:txXfrm>
        <a:off x="3434492" y="348465"/>
        <a:ext cx="1481786" cy="3254360"/>
      </dsp:txXfrm>
    </dsp:sp>
    <dsp:sp modelId="{5BF6BCF7-FB5B-4F44-91D5-1069A60D812D}">
      <dsp:nvSpPr>
        <dsp:cNvPr id="0" name=""/>
        <dsp:cNvSpPr/>
      </dsp:nvSpPr>
      <dsp:spPr>
        <a:xfrm>
          <a:off x="4000267" y="22778"/>
          <a:ext cx="271861" cy="2718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698534c33_3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a698534c33_3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698534c33_3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a698534c33_3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698534c33_3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a698534c33_3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698534c33_3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a698534c33_3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698534c33_3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3a698534c33_3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698534c33_3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a698534c33_3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698534c33_3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a698534c33_3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698534c33_3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a698534c33_3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698534c33_3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a698534c33_3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698534c33_3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a698534c33_3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a3920de0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aa3920de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698534c33_3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a698534c33_3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698534c33_3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3a698534c33_3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698534c33_3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a698534c33_3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698534c33_3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a698534c33_3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698534c33_3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a698534c33_3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698534c33_3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3a698534c33_3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698534c33_3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a698534c33_3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698534c33_3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a698534c33_3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698534c33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3a698534c33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698534c33_3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g3a698534c33_3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a3920de0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3aa3920de0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a3920de0e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g3aa3920de0e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a3920de0e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3aa3920de0e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a3920de0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aa3920de0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a3920de0e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3aa3920de0e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698534c33_3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3a698534c33_3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698534c33_3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3a698534c33_3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698534c33_3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3a698534c33_3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698534c33_3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3a698534c33_3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698534c33_3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3a698534c33_3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698534c33_3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3a698534c33_3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698534c33_3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g3a698534c33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698534c33_3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3a698534c33_3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a698534c33_3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3a698534c33_3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a698534c33_3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g3a698534c33_3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a698534c33_3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g3a698534c33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a698534c33_3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g3a698534c33_3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a698534c33_3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3a698534c33_3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1"/>
          </p:nvPr>
        </p:nvSpPr>
        <p:spPr>
          <a:xfrm>
            <a:off x="1371600" y="2914651"/>
            <a:ext cx="6400800" cy="715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i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D8C8C"/>
              </a:buClr>
              <a:buSzPts val="2100"/>
              <a:buNone/>
              <a:defRPr>
                <a:solidFill>
                  <a:srgbClr val="8D8C8C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D8C8C"/>
              </a:buClr>
              <a:buSzPts val="1800"/>
              <a:buNone/>
              <a:defRPr>
                <a:solidFill>
                  <a:srgbClr val="8D8C8C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  <a:defRPr>
                <a:solidFill>
                  <a:srgbClr val="8D8C8C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  <a:defRPr>
                <a:solidFill>
                  <a:srgbClr val="8D8C8C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  <a:defRPr>
                <a:solidFill>
                  <a:srgbClr val="8D8C8C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  <a:defRPr>
                <a:solidFill>
                  <a:srgbClr val="8D8C8C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  <a:defRPr>
                <a:solidFill>
                  <a:srgbClr val="8D8C8C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  <a:defRPr>
                <a:solidFill>
                  <a:srgbClr val="8D8C8C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dt" idx="10"/>
          </p:nvPr>
        </p:nvSpPr>
        <p:spPr>
          <a:xfrm>
            <a:off x="457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ftr" idx="11"/>
          </p:nvPr>
        </p:nvSpPr>
        <p:spPr>
          <a:xfrm>
            <a:off x="3124200" y="4927410"/>
            <a:ext cx="2895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6553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  <a:defRPr sz="1500" i="1">
                <a:solidFill>
                  <a:srgbClr val="8D8C8C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8D8C8C"/>
              </a:buClr>
              <a:buSzPts val="1400"/>
              <a:buNone/>
              <a:defRPr sz="1400">
                <a:solidFill>
                  <a:srgbClr val="8D8C8C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D8C8C"/>
              </a:buClr>
              <a:buSzPts val="1200"/>
              <a:buNone/>
              <a:defRPr sz="1200">
                <a:solidFill>
                  <a:srgbClr val="8D8C8C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8D8C8C"/>
              </a:buClr>
              <a:buSzPts val="1100"/>
              <a:buNone/>
              <a:defRPr sz="1100">
                <a:solidFill>
                  <a:srgbClr val="8D8C8C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8D8C8C"/>
              </a:buClr>
              <a:buSzPts val="1100"/>
              <a:buNone/>
              <a:defRPr sz="1100">
                <a:solidFill>
                  <a:srgbClr val="8D8C8C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D8C8C"/>
              </a:buClr>
              <a:buSzPts val="1100"/>
              <a:buNone/>
              <a:defRPr sz="1100">
                <a:solidFill>
                  <a:srgbClr val="8D8C8C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D8C8C"/>
              </a:buClr>
              <a:buSzPts val="1100"/>
              <a:buNone/>
              <a:defRPr sz="1100">
                <a:solidFill>
                  <a:srgbClr val="8D8C8C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D8C8C"/>
              </a:buClr>
              <a:buSzPts val="1100"/>
              <a:buNone/>
              <a:defRPr sz="1100">
                <a:solidFill>
                  <a:srgbClr val="8D8C8C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D8C8C"/>
              </a:buClr>
              <a:buSzPts val="1100"/>
              <a:buNone/>
              <a:defRPr sz="1100">
                <a:solidFill>
                  <a:srgbClr val="8D8C8C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dt" idx="10"/>
          </p:nvPr>
        </p:nvSpPr>
        <p:spPr>
          <a:xfrm>
            <a:off x="457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ftr" idx="11"/>
          </p:nvPr>
        </p:nvSpPr>
        <p:spPr>
          <a:xfrm>
            <a:off x="3124200" y="4927410"/>
            <a:ext cx="2895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6553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226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dt" idx="10"/>
          </p:nvPr>
        </p:nvSpPr>
        <p:spPr>
          <a:xfrm>
            <a:off x="457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ftr" idx="11"/>
          </p:nvPr>
        </p:nvSpPr>
        <p:spPr>
          <a:xfrm>
            <a:off x="3124200" y="4927410"/>
            <a:ext cx="2895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sldNum" idx="12"/>
          </p:nvPr>
        </p:nvSpPr>
        <p:spPr>
          <a:xfrm>
            <a:off x="6553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23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dt" idx="10"/>
          </p:nvPr>
        </p:nvSpPr>
        <p:spPr>
          <a:xfrm>
            <a:off x="457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ftr" idx="11"/>
          </p:nvPr>
        </p:nvSpPr>
        <p:spPr>
          <a:xfrm>
            <a:off x="3124200" y="4927410"/>
            <a:ext cx="2895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6553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79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79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dt" idx="10"/>
          </p:nvPr>
        </p:nvSpPr>
        <p:spPr>
          <a:xfrm>
            <a:off x="457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ftr" idx="11"/>
          </p:nvPr>
        </p:nvSpPr>
        <p:spPr>
          <a:xfrm>
            <a:off x="3124200" y="4927410"/>
            <a:ext cx="2895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sldNum" idx="12"/>
          </p:nvPr>
        </p:nvSpPr>
        <p:spPr>
          <a:xfrm>
            <a:off x="6553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dt" idx="10"/>
          </p:nvPr>
        </p:nvSpPr>
        <p:spPr>
          <a:xfrm>
            <a:off x="457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ftr" idx="11"/>
          </p:nvPr>
        </p:nvSpPr>
        <p:spPr>
          <a:xfrm>
            <a:off x="3124200" y="4927410"/>
            <a:ext cx="2895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sldNum" idx="12"/>
          </p:nvPr>
        </p:nvSpPr>
        <p:spPr>
          <a:xfrm>
            <a:off x="6553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dt" idx="10"/>
          </p:nvPr>
        </p:nvSpPr>
        <p:spPr>
          <a:xfrm>
            <a:off x="457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ftr" idx="11"/>
          </p:nvPr>
        </p:nvSpPr>
        <p:spPr>
          <a:xfrm>
            <a:off x="3124200" y="4927410"/>
            <a:ext cx="2895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ldNum" idx="12"/>
          </p:nvPr>
        </p:nvSpPr>
        <p:spPr>
          <a:xfrm>
            <a:off x="6553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457201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221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350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dt" idx="10"/>
          </p:nvPr>
        </p:nvSpPr>
        <p:spPr>
          <a:xfrm>
            <a:off x="457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1"/>
          <p:cNvSpPr txBox="1">
            <a:spLocks noGrp="1"/>
          </p:cNvSpPr>
          <p:nvPr>
            <p:ph type="ftr" idx="11"/>
          </p:nvPr>
        </p:nvSpPr>
        <p:spPr>
          <a:xfrm>
            <a:off x="3124200" y="4927410"/>
            <a:ext cx="2895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sldNum" idx="12"/>
          </p:nvPr>
        </p:nvSpPr>
        <p:spPr>
          <a:xfrm>
            <a:off x="6553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22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dt" idx="10"/>
          </p:nvPr>
        </p:nvSpPr>
        <p:spPr>
          <a:xfrm>
            <a:off x="457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ftr" idx="11"/>
          </p:nvPr>
        </p:nvSpPr>
        <p:spPr>
          <a:xfrm>
            <a:off x="3124200" y="4927410"/>
            <a:ext cx="2895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sldNum" idx="12"/>
          </p:nvPr>
        </p:nvSpPr>
        <p:spPr>
          <a:xfrm>
            <a:off x="6553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sz="3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226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dt" idx="10"/>
          </p:nvPr>
        </p:nvSpPr>
        <p:spPr>
          <a:xfrm>
            <a:off x="457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ftr" idx="11"/>
          </p:nvPr>
        </p:nvSpPr>
        <p:spPr>
          <a:xfrm>
            <a:off x="3124200" y="4927410"/>
            <a:ext cx="2895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6553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" dirty="0"/>
              <a:t>SwiftServe Ordering Platform - Team X1</a:t>
            </a:r>
            <a:endParaRPr dirty="0"/>
          </a:p>
        </p:txBody>
      </p:sp>
      <p:sp>
        <p:nvSpPr>
          <p:cNvPr id="125" name="Google Shape;125;p23"/>
          <p:cNvSpPr txBox="1">
            <a:spLocks noGrp="1"/>
          </p:cNvSpPr>
          <p:nvPr>
            <p:ph type="subTitle" idx="1"/>
          </p:nvPr>
        </p:nvSpPr>
        <p:spPr>
          <a:xfrm>
            <a:off x="1371600" y="2914651"/>
            <a:ext cx="6400800" cy="715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"/>
              <a:t>Team X1</a:t>
            </a:r>
            <a:endParaRPr/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"/>
              <a:t>Hrudith, Jhanghir, Sudeep, Rahul S., Rahul G., Nicholas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37" name="Google Shape;137;p2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226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Member Introductions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Problem Statement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Tech Stack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Accessibility Features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Usability Reports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Project Management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Additional Thoughts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/>
              <a:t>MEMBER INTRODUCTIONS</a:t>
            </a:r>
            <a:endParaRPr/>
          </a:p>
        </p:txBody>
      </p:sp>
      <p:sp>
        <p:nvSpPr>
          <p:cNvPr id="143" name="Google Shape;143;p26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Team X1</a:t>
            </a:r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Full Stack: Hrudith</a:t>
            </a:r>
            <a:endParaRPr/>
          </a:p>
          <a:p>
            <a:pPr marL="254000" lvl="0" indent="-2476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Backend: Jhanghir</a:t>
            </a:r>
            <a:endParaRPr/>
          </a:p>
          <a:p>
            <a:pPr marL="254000" lvl="0" indent="-2476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Backend: Sudeep</a:t>
            </a:r>
            <a:endParaRPr/>
          </a:p>
          <a:p>
            <a:pPr marL="254000" lvl="0" indent="-2476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Frontend: Rahul S.</a:t>
            </a:r>
            <a:endParaRPr/>
          </a:p>
          <a:p>
            <a:pPr marL="254000" lvl="0" indent="-2476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Database &amp; API : Rahul G.</a:t>
            </a:r>
            <a:endParaRPr/>
          </a:p>
          <a:p>
            <a:pPr marL="254000" lvl="0" indent="-247650" algn="l" rtl="0">
              <a:spcBef>
                <a:spcPts val="4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UI/UX &amp; Testing: Nicholas</a:t>
            </a:r>
            <a:endParaRPr/>
          </a:p>
          <a:p>
            <a:pPr marL="254000" lvl="0" indent="-1143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150" name="Google Shape;150;p27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23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&lt;Full Team Photo&gt;</a:t>
            </a:r>
            <a:endParaRPr/>
          </a:p>
        </p:txBody>
      </p:sp>
      <p:pic>
        <p:nvPicPr>
          <p:cNvPr id="151" name="Google Shape;1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0925" y="1200150"/>
            <a:ext cx="4389024" cy="32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Full Stack: Hrudith</a:t>
            </a:r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47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Dedicated Role Responsibilities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Full stack architecture design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Frontend/backend system integration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End-to-end feature implementation</a:t>
            </a:r>
            <a:endParaRPr/>
          </a:p>
          <a:p>
            <a:pPr marL="254000" lvl="0" indent="-2476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Shared Role Responsibilities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Code reviews and collaboration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Bug fixes and troubleshooting</a:t>
            </a:r>
            <a:endParaRPr/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8359" y="963863"/>
            <a:ext cx="2778275" cy="3704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Backend: Jhanghir</a:t>
            </a:r>
            <a:endParaRPr/>
          </a:p>
        </p:txBody>
      </p:sp>
      <p:sp>
        <p:nvSpPr>
          <p:cNvPr id="164" name="Google Shape;164;p2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47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Dedicated Role Responsibilities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PostgreSQL database development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Database schema and migrations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Authentication and authorization</a:t>
            </a:r>
            <a:endParaRPr/>
          </a:p>
          <a:p>
            <a:pPr marL="254000" lvl="0" indent="-247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Shared Role Responsibilities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Backend Database and API Testing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Bug fixes and troubleshooting</a:t>
            </a:r>
            <a:endParaRPr/>
          </a:p>
        </p:txBody>
      </p:sp>
      <p:pic>
        <p:nvPicPr>
          <p:cNvPr id="165" name="Google Shape;165;p29" title="jhanghirIMG_Gangx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527" y="1268825"/>
            <a:ext cx="2513950" cy="335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Backend: Sudeep</a:t>
            </a:r>
            <a:endParaRPr/>
          </a:p>
        </p:txBody>
      </p:sp>
      <p:sp>
        <p:nvSpPr>
          <p:cNvPr id="171" name="Google Shape;171;p3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47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Dedicated Role Responsibilities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API endpoint development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Order and payment systems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Inventory management logic</a:t>
            </a:r>
            <a:endParaRPr/>
          </a:p>
          <a:p>
            <a:pPr marL="254000" lvl="0" indent="-247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Shared Role Responsibilities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Code reviews and collaboration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Database management and testing</a:t>
            </a:r>
            <a:endParaRPr/>
          </a:p>
        </p:txBody>
      </p:sp>
      <p:pic>
        <p:nvPicPr>
          <p:cNvPr id="172" name="Google Shape;172;p30" title="profil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1250" y="1063225"/>
            <a:ext cx="2227651" cy="3682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Frontend: Rahul S.</a:t>
            </a:r>
            <a:endParaRPr/>
          </a:p>
        </p:txBody>
      </p:sp>
      <p:sp>
        <p:nvSpPr>
          <p:cNvPr id="178" name="Google Shape;178;p3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47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Dedicated Role Responsibilities</a:t>
            </a:r>
            <a:endParaRPr dirty="0"/>
          </a:p>
          <a:p>
            <a:pPr marL="55880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dirty="0"/>
              <a:t>React component development</a:t>
            </a:r>
            <a:endParaRPr dirty="0"/>
          </a:p>
          <a:p>
            <a:pPr marL="55880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dirty="0"/>
              <a:t>UI implementation with Tailwind</a:t>
            </a:r>
            <a:endParaRPr dirty="0"/>
          </a:p>
          <a:p>
            <a:pPr marL="55880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dirty="0"/>
              <a:t>State management with Zustand</a:t>
            </a:r>
            <a:endParaRPr dirty="0"/>
          </a:p>
          <a:p>
            <a:pPr marL="254000" lvl="0" indent="-247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Shared Role Responsibilities</a:t>
            </a:r>
            <a:endParaRPr dirty="0"/>
          </a:p>
          <a:p>
            <a:pPr marL="558800" lvl="1" indent="-215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 dirty="0"/>
              <a:t>Backend Code reviews</a:t>
            </a:r>
            <a:endParaRPr dirty="0"/>
          </a:p>
          <a:p>
            <a:pPr marL="558800" lvl="1" indent="-215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 dirty="0"/>
              <a:t>UI development</a:t>
            </a:r>
            <a:endParaRPr dirty="0"/>
          </a:p>
        </p:txBody>
      </p:sp>
      <p:pic>
        <p:nvPicPr>
          <p:cNvPr id="179" name="Google Shape;179;p31" title="IMG_7696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8729" y="1114166"/>
            <a:ext cx="3311752" cy="3403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Database &amp; API: Rahul G.</a:t>
            </a:r>
            <a:endParaRPr/>
          </a:p>
        </p:txBody>
      </p:sp>
      <p:sp>
        <p:nvSpPr>
          <p:cNvPr id="185" name="Google Shape;185;p3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47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Dedicated Role Responsibilities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PostgreSQL database administration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SQL optimization and queries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Data migration scripts</a:t>
            </a:r>
            <a:endParaRPr/>
          </a:p>
          <a:p>
            <a:pPr marL="254000" lvl="0" indent="-247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Shared Role Responsibilities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Frontend code reviews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Bug fixes and troubleshooting</a:t>
            </a:r>
            <a:endParaRPr/>
          </a:p>
        </p:txBody>
      </p:sp>
      <p:pic>
        <p:nvPicPr>
          <p:cNvPr id="186" name="Google Shape;186;p32" title="image_2025-11-26_1608009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1972" y="955350"/>
            <a:ext cx="2791050" cy="37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UI/UX &amp; Testing: Nicholas</a:t>
            </a:r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47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Dedicated Role Responsibilities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User interface design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Usability and accessibility testing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User feedback analysis</a:t>
            </a:r>
            <a:endParaRPr/>
          </a:p>
          <a:p>
            <a:pPr marL="254000" lvl="0" indent="-2476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Shared Role Responsibilities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Database management</a:t>
            </a:r>
            <a:endParaRPr/>
          </a:p>
          <a:p>
            <a:pPr marL="558800" lvl="1" indent="-215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Bug fixes and troubleshooting</a:t>
            </a:r>
            <a:endParaRPr/>
          </a:p>
        </p:txBody>
      </p:sp>
      <p:pic>
        <p:nvPicPr>
          <p:cNvPr id="193" name="Google Shape;193;p33" title="Headshot_Croppe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9875" y="1100175"/>
            <a:ext cx="2755249" cy="3431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199" name="Google Shape;199;p34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/>
              <a:t>Product Idea</a:t>
            </a:r>
          </a:p>
        </p:txBody>
      </p:sp>
      <p:sp>
        <p:nvSpPr>
          <p:cNvPr id="205" name="Google Shape;205;p35"/>
          <p:cNvSpPr txBox="1">
            <a:spLocks noGrp="1"/>
          </p:cNvSpPr>
          <p:nvPr>
            <p:ph type="body" idx="4294967295"/>
          </p:nvPr>
        </p:nvSpPr>
        <p:spPr>
          <a:xfrm>
            <a:off x="457200" y="1253728"/>
            <a:ext cx="3924300" cy="3264408"/>
          </a:xfrm>
        </p:spPr>
        <p:txBody>
          <a:bodyPr spcFirstLastPara="1" lIns="68575" tIns="34275" rIns="68575" bIns="34275" anchor="t" anchorCtr="0">
            <a:normAutofit/>
          </a:bodyPr>
          <a:lstStyle/>
          <a:p>
            <a:pPr marL="254000" lvl="0" indent="-24765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1700" b="0" i="0" u="none" strike="noStrike" cap="none"/>
              <a:t>Comprehensive SaaS solution for Sharetea franchise operations</a:t>
            </a:r>
          </a:p>
          <a:p>
            <a:pPr marL="254000" lvl="0" indent="-24765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1700" b="0" i="0" u="none" strike="noStrike" cap="none"/>
              <a:t>Modern point-of-sale system replacing outdated legacy systems</a:t>
            </a:r>
          </a:p>
          <a:p>
            <a:pPr marL="254000" lvl="0" indent="-24765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1700" b="0" i="0" u="none" strike="noStrike" cap="none"/>
              <a:t>Multi-role support: Manager, Cashier, Barista, Customer</a:t>
            </a:r>
          </a:p>
          <a:p>
            <a:pPr marL="254000" lvl="0" indent="-24765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1700" b="0" i="0" u="none" strike="noStrike" cap="none"/>
              <a:t>Real-time order processing and kitchen display system</a:t>
            </a:r>
          </a:p>
          <a:p>
            <a:pPr marL="254000" lvl="0" indent="-24765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1700" b="0" i="0" u="none" strike="noStrike" cap="none"/>
              <a:t>Inventory management with automatic alerts</a:t>
            </a:r>
          </a:p>
          <a:p>
            <a:pPr marL="254000" lvl="0" indent="-24765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1700" b="0" i="0" u="none" strike="noStrike" cap="none"/>
              <a:t>Analytics and reporting dashboard</a:t>
            </a:r>
          </a:p>
        </p:txBody>
      </p:sp>
      <p:pic>
        <p:nvPicPr>
          <p:cNvPr id="206" name="Google Shape;206;p35"/>
          <p:cNvPicPr preferRelativeResize="0"/>
          <p:nvPr/>
        </p:nvPicPr>
        <p:blipFill>
          <a:blip r:embed="rId3"/>
          <a:srcRect l="9396" r="10359" b="-2"/>
          <a:stretch>
            <a:fillRect/>
          </a:stretch>
        </p:blipFill>
        <p:spPr>
          <a:xfrm>
            <a:off x="4762500" y="1253728"/>
            <a:ext cx="3589020" cy="2861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Secret History of the Google Logo">
            <a:extLst>
              <a:ext uri="{FF2B5EF4-FFF2-40B4-BE49-F238E27FC236}">
                <a16:creationId xmlns:a16="http://schemas.microsoft.com/office/drawing/2014/main" id="{1DAC70B4-23D7-82A5-D15E-94F208C16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790" y="1870258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1" name="Google Shape;211;p3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Project Details</a:t>
            </a:r>
            <a:endParaRPr/>
          </a:p>
        </p:txBody>
      </p:sp>
      <p:sp>
        <p:nvSpPr>
          <p:cNvPr id="212" name="Google Shape;212;p3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Full-stack web application with role-based dashboards</a:t>
            </a:r>
            <a:endParaRPr dirty="0"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Google OAuth 2.0 authentication system</a:t>
            </a:r>
            <a:endParaRPr dirty="0"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PostgreSQL database with normalized schema</a:t>
            </a:r>
            <a:endParaRPr dirty="0"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RESTful API architecture</a:t>
            </a:r>
            <a:endParaRPr dirty="0"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Real-time updates for kitchen operations</a:t>
            </a:r>
            <a:endParaRPr dirty="0"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Weather-based menu recommendations using AI</a:t>
            </a: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BEC1BF5-47D9-93B2-BD5A-9D6954DB83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8390943"/>
              </p:ext>
            </p:extLst>
          </p:nvPr>
        </p:nvGraphicFramePr>
        <p:xfrm>
          <a:off x="1140776" y="2149013"/>
          <a:ext cx="6862447" cy="4566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State-of-the-Art</a:t>
            </a:r>
            <a:endParaRPr lang="en-US"/>
          </a:p>
        </p:txBody>
      </p:sp>
      <p:pic>
        <p:nvPicPr>
          <p:cNvPr id="2050" name="Picture 2" descr="Globe Foreign Languages Stock ...">
            <a:extLst>
              <a:ext uri="{FF2B5EF4-FFF2-40B4-BE49-F238E27FC236}">
                <a16:creationId xmlns:a16="http://schemas.microsoft.com/office/drawing/2014/main" id="{C57FB86F-6C21-6695-B965-EC63F1059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4" r="-2" b="14130"/>
          <a:stretch>
            <a:fillRect/>
          </a:stretch>
        </p:blipFill>
        <p:spPr bwMode="auto">
          <a:xfrm>
            <a:off x="457200" y="1253728"/>
            <a:ext cx="3924300" cy="32644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218" name="Google Shape;218;p37"/>
          <p:cNvSpPr txBox="1">
            <a:spLocks noGrp="1"/>
          </p:cNvSpPr>
          <p:nvPr>
            <p:ph type="body" idx="4294967295"/>
          </p:nvPr>
        </p:nvSpPr>
        <p:spPr>
          <a:xfrm>
            <a:off x="4762500" y="1253728"/>
            <a:ext cx="3924300" cy="3264408"/>
          </a:xfrm>
        </p:spPr>
        <p:txBody>
          <a:bodyPr spcFirstLastPara="1" lIns="68575" tIns="34275" rIns="68575" bIns="34275" anchor="t" anchorCtr="0">
            <a:normAutofit/>
          </a:bodyPr>
          <a:lstStyle/>
          <a:p>
            <a:pPr marL="254000" lvl="0" indent="-2476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000" b="0" i="0" u="none" strike="noStrike" cap="none" dirty="0"/>
              <a:t>Cloud-based deployment (</a:t>
            </a:r>
            <a:r>
              <a:rPr lang="en-US" sz="2000" b="0" i="0" u="none" strike="noStrike" cap="none" dirty="0" err="1"/>
              <a:t>Supabase</a:t>
            </a:r>
            <a:r>
              <a:rPr lang="en-US" sz="2000" b="0" i="0" u="none" strike="noStrike" cap="none" dirty="0"/>
              <a:t> + </a:t>
            </a:r>
            <a:r>
              <a:rPr lang="en-US" sz="2000" b="0" i="0" u="none" strike="noStrike" cap="none" dirty="0" err="1"/>
              <a:t>Vercel</a:t>
            </a:r>
            <a:r>
              <a:rPr lang="en-US" sz="2000" b="0" i="0" u="none" strike="noStrike" cap="none" dirty="0"/>
              <a:t>)</a:t>
            </a:r>
          </a:p>
          <a:p>
            <a:pPr marL="254000" lvl="0" indent="-2476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000" b="0" i="0" u="none" strike="noStrike" cap="none" dirty="0"/>
              <a:t>WCAG 2.1 AA accessibility compliance</a:t>
            </a:r>
          </a:p>
          <a:p>
            <a:pPr marL="254000" lvl="0" indent="-2476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000" b="0" i="0" u="none" strike="noStrike" cap="none" dirty="0"/>
              <a:t>Multilingual support (Google Translate API)</a:t>
            </a:r>
          </a:p>
          <a:p>
            <a:pPr marL="254000" lvl="0" indent="-2476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000" b="0" i="0" u="none" strike="noStrike" cap="none" dirty="0"/>
              <a:t>AI-powered features for enhanced customer experience</a:t>
            </a:r>
          </a:p>
          <a:p>
            <a:pPr marL="254000" lvl="0" indent="-2476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000" b="0" i="0" u="none" strike="noStrike" cap="none" dirty="0"/>
              <a:t>Responsive design for multiple device types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8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/>
              <a:t>TECH STACK</a:t>
            </a:r>
            <a:endParaRPr/>
          </a:p>
        </p:txBody>
      </p:sp>
      <p:sp>
        <p:nvSpPr>
          <p:cNvPr id="224" name="Google Shape;224;p38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Frontend Development</a:t>
            </a:r>
            <a:endParaRPr/>
          </a:p>
        </p:txBody>
      </p:sp>
      <p:sp>
        <p:nvSpPr>
          <p:cNvPr id="230" name="Google Shape;230;p3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351020" cy="3630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/>
          </a:bodyPr>
          <a:lstStyle/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400" dirty="0"/>
              <a:t>React 18 with Vite build system</a:t>
            </a:r>
            <a:endParaRPr sz="2400" dirty="0"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400" dirty="0"/>
              <a:t>React Router 6 for navigation</a:t>
            </a:r>
            <a:endParaRPr sz="2400" dirty="0"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400" dirty="0"/>
              <a:t>Zustand for state management</a:t>
            </a:r>
            <a:endParaRPr sz="2400" dirty="0"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400" dirty="0"/>
              <a:t>Tailwind CSS for styling</a:t>
            </a:r>
            <a:endParaRPr sz="2400" dirty="0"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400" dirty="0"/>
              <a:t>Vitest + React Testing Library</a:t>
            </a:r>
            <a:endParaRPr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84875B-2E3E-35D5-93B3-1F7C6849D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915" y="1200150"/>
            <a:ext cx="3530884" cy="16264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268C05-29C6-3674-6E83-783DA3FB0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470" y="2963404"/>
            <a:ext cx="1669774" cy="17250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/>
              <a:t>Backend Development</a:t>
            </a:r>
          </a:p>
        </p:txBody>
      </p:sp>
      <p:sp>
        <p:nvSpPr>
          <p:cNvPr id="239" name="Google Shape;239;p40"/>
          <p:cNvSpPr txBox="1">
            <a:spLocks noGrp="1"/>
          </p:cNvSpPr>
          <p:nvPr>
            <p:ph type="body" idx="1"/>
          </p:nvPr>
        </p:nvSpPr>
        <p:spPr>
          <a:xfrm>
            <a:off x="213360" y="955798"/>
            <a:ext cx="3482340" cy="3890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1800" dirty="0"/>
              <a:t>Node.js with Express framework</a:t>
            </a:r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1800" dirty="0"/>
              <a:t>PostgreSQL 14+ database</a:t>
            </a:r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1800" dirty="0"/>
              <a:t>Passport.js for authentication</a:t>
            </a:r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1800" dirty="0"/>
              <a:t>JWT token-based authorization</a:t>
            </a:r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1800" dirty="0" err="1"/>
              <a:t>Bcrypt</a:t>
            </a:r>
            <a:r>
              <a:rPr lang="en-US" sz="1800" dirty="0"/>
              <a:t> for password hashing</a:t>
            </a:r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1800" dirty="0"/>
              <a:t>Postman for API testing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9A2AD2-D23E-93BA-4C36-380D8F76FF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94"/>
          <a:stretch>
            <a:fillRect/>
          </a:stretch>
        </p:blipFill>
        <p:spPr>
          <a:xfrm>
            <a:off x="3575160" y="1304669"/>
            <a:ext cx="5246574" cy="24443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/>
              <a:t>Full Stack Development</a:t>
            </a:r>
          </a:p>
        </p:txBody>
      </p:sp>
      <p:pic>
        <p:nvPicPr>
          <p:cNvPr id="3" name="Picture 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236CBFAC-A5CE-0E82-B045-6DCCA15340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801" b="72162"/>
          <a:stretch>
            <a:fillRect/>
          </a:stretch>
        </p:blipFill>
        <p:spPr>
          <a:xfrm>
            <a:off x="457200" y="1253727"/>
            <a:ext cx="4361940" cy="3167197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1"/>
          <p:cNvSpPr txBox="1">
            <a:spLocks noGrp="1"/>
          </p:cNvSpPr>
          <p:nvPr>
            <p:ph type="body" idx="4294967295"/>
          </p:nvPr>
        </p:nvSpPr>
        <p:spPr>
          <a:xfrm>
            <a:off x="4762500" y="1253728"/>
            <a:ext cx="3924300" cy="3264408"/>
          </a:xfrm>
        </p:spPr>
        <p:txBody>
          <a:bodyPr spcFirstLastPara="1" lIns="68575" tIns="34275" rIns="68575" bIns="34275" anchor="t" anchorCtr="0">
            <a:normAutofit/>
          </a:bodyPr>
          <a:lstStyle/>
          <a:p>
            <a:pPr marL="254000" lvl="0" indent="-24765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1700" b="0" i="0" u="none" strike="noStrike" cap="none" dirty="0" err="1"/>
              <a:t>Monorepo</a:t>
            </a:r>
            <a:r>
              <a:rPr lang="en-US" sz="1700" b="0" i="0" u="none" strike="noStrike" cap="none" dirty="0"/>
              <a:t> architecture with </a:t>
            </a:r>
            <a:r>
              <a:rPr lang="en-US" sz="1700" b="0" i="0" u="none" strike="noStrike" cap="none" dirty="0" err="1"/>
              <a:t>npm</a:t>
            </a:r>
            <a:r>
              <a:rPr lang="en-US" sz="1700" b="0" i="0" u="none" strike="noStrike" cap="none" dirty="0"/>
              <a:t> workspaces</a:t>
            </a:r>
          </a:p>
          <a:p>
            <a:pPr marL="254000" lvl="0" indent="-24765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1700" b="0" i="0" u="none" strike="noStrike" cap="none" dirty="0"/>
              <a:t>RESTful API design principles</a:t>
            </a:r>
          </a:p>
          <a:p>
            <a:pPr marL="254000" lvl="0" indent="-24765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1700" b="0" i="0" u="none" strike="noStrike" cap="none" dirty="0"/>
              <a:t>Role-based access control (RBAC)</a:t>
            </a:r>
          </a:p>
          <a:p>
            <a:pPr marL="254000" lvl="0" indent="-24765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1700" b="0" i="0" u="none" strike="noStrike" cap="none" dirty="0"/>
              <a:t>CORS-enabled cross-origin requests</a:t>
            </a:r>
          </a:p>
          <a:p>
            <a:pPr marL="254000" lvl="0" indent="-24765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1700" b="0" i="0" u="none" strike="noStrike" cap="none" dirty="0"/>
              <a:t>Environment-based configuration</a:t>
            </a:r>
          </a:p>
          <a:p>
            <a:pPr marL="254000" lvl="0" indent="-24765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1700" b="0" i="0" u="none" strike="noStrike" cap="none" dirty="0"/>
              <a:t>CI/CD ready deployment structure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/>
              <a:t>ACCESSIBILITY FEATURES</a:t>
            </a:r>
            <a:endParaRPr/>
          </a:p>
        </p:txBody>
      </p:sp>
      <p:sp>
        <p:nvSpPr>
          <p:cNvPr id="256" name="Google Shape;256;p42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1st Persona: Maria</a:t>
            </a:r>
            <a:endParaRPr/>
          </a:p>
        </p:txBody>
      </p:sp>
      <p:sp>
        <p:nvSpPr>
          <p:cNvPr id="262" name="Google Shape;262;p4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Community health worker</a:t>
            </a:r>
            <a:endParaRPr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Her mobile phone is her first computer</a:t>
            </a:r>
            <a:endParaRPr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Uses computer translations</a:t>
            </a:r>
            <a:endParaRPr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Needs clearly written information</a:t>
            </a:r>
            <a:endParaRPr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Spanish/English bilingual</a:t>
            </a:r>
            <a:endParaRPr/>
          </a:p>
        </p:txBody>
      </p:sp>
      <p:pic>
        <p:nvPicPr>
          <p:cNvPr id="263" name="Google Shape;26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0650" y="1704487"/>
            <a:ext cx="2343925" cy="173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Accessibility Features for Maria </a:t>
            </a:r>
            <a:endParaRPr/>
          </a:p>
        </p:txBody>
      </p:sp>
      <p:sp>
        <p:nvSpPr>
          <p:cNvPr id="269" name="Google Shape;269;p4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English/Spanish language toggle available</a:t>
            </a:r>
            <a:endParaRPr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Google Translate widget embedded</a:t>
            </a:r>
            <a:endParaRPr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Mobile-responsive design for phones</a:t>
            </a:r>
            <a:endParaRPr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Clear labels in both languages</a:t>
            </a:r>
            <a:endParaRPr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Simple, consistent navigation patterns</a:t>
            </a:r>
            <a:endParaRPr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Semantic HTML structure throughout</a:t>
            </a:r>
            <a:endParaRPr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Form fields with bilingual support</a:t>
            </a:r>
            <a:endParaRPr/>
          </a:p>
        </p:txBody>
      </p:sp>
      <p:pic>
        <p:nvPicPr>
          <p:cNvPr id="270" name="Google Shape;27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1175" y="3102500"/>
            <a:ext cx="3386926" cy="33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6850" y="2290150"/>
            <a:ext cx="600250" cy="56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2122" y="1772213"/>
            <a:ext cx="3225030" cy="33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5054" y="2290153"/>
            <a:ext cx="519633" cy="563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4" name="Google Shape;274;p44"/>
          <p:cNvCxnSpPr/>
          <p:nvPr/>
        </p:nvCxnSpPr>
        <p:spPr>
          <a:xfrm>
            <a:off x="6798968" y="2561750"/>
            <a:ext cx="768600" cy="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2nd Persona: Vishnu</a:t>
            </a:r>
            <a:endParaRPr/>
          </a:p>
        </p:txBody>
      </p:sp>
      <p:sp>
        <p:nvSpPr>
          <p:cNvPr id="280" name="Google Shape;280;p4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Engineer, working on medical technology</a:t>
            </a:r>
            <a:endParaRPr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World citizen through technology</a:t>
            </a:r>
            <a:endParaRPr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Low vision due to glaucoma</a:t>
            </a:r>
            <a:endParaRPr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Uses screen magnifiers </a:t>
            </a:r>
            <a:endParaRPr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Contrast adjustment</a:t>
            </a:r>
            <a:endParaRPr/>
          </a:p>
        </p:txBody>
      </p:sp>
      <p:pic>
        <p:nvPicPr>
          <p:cNvPr id="281" name="Google Shape;28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1100" y="1935230"/>
            <a:ext cx="2380750" cy="176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Accessibility Features for Vishnu </a:t>
            </a:r>
            <a:endParaRPr/>
          </a:p>
        </p:txBody>
      </p:sp>
      <p:sp>
        <p:nvSpPr>
          <p:cNvPr id="287" name="Google Shape;287;p4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Adjustable font size controls (A-/A/A+)</a:t>
            </a:r>
            <a:endParaRPr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High contrast mode toggle available</a:t>
            </a:r>
            <a:endParaRPr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ARIA labels for screen readers</a:t>
            </a:r>
            <a:endParaRPr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Full keyboard navigation support</a:t>
            </a:r>
            <a:endParaRPr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Clear focus indicators on elements</a:t>
            </a:r>
            <a:endParaRPr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Real-time font size preview display</a:t>
            </a:r>
            <a:endParaRPr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Semantic time elements with attributes</a:t>
            </a:r>
            <a:endParaRPr/>
          </a:p>
        </p:txBody>
      </p:sp>
      <p:grpSp>
        <p:nvGrpSpPr>
          <p:cNvPr id="288" name="Google Shape;288;p46"/>
          <p:cNvGrpSpPr/>
          <p:nvPr/>
        </p:nvGrpSpPr>
        <p:grpSpPr>
          <a:xfrm>
            <a:off x="5392588" y="1620220"/>
            <a:ext cx="3294202" cy="2156068"/>
            <a:chOff x="5400313" y="1237357"/>
            <a:chExt cx="3294202" cy="2156068"/>
          </a:xfrm>
        </p:grpSpPr>
        <p:pic>
          <p:nvPicPr>
            <p:cNvPr id="289" name="Google Shape;289;p46"/>
            <p:cNvPicPr preferRelativeResize="0"/>
            <p:nvPr/>
          </p:nvPicPr>
          <p:blipFill rotWithShape="1">
            <a:blip r:embed="rId3">
              <a:alphaModFix/>
            </a:blip>
            <a:srcRect l="1234"/>
            <a:stretch/>
          </p:blipFill>
          <p:spPr>
            <a:xfrm>
              <a:off x="5408025" y="1917700"/>
              <a:ext cx="3278775" cy="7527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0" name="Google Shape;290;p46"/>
            <p:cNvGrpSpPr/>
            <p:nvPr/>
          </p:nvGrpSpPr>
          <p:grpSpPr>
            <a:xfrm>
              <a:off x="5400313" y="1237357"/>
              <a:ext cx="3294202" cy="2156068"/>
              <a:chOff x="5400313" y="1237357"/>
              <a:chExt cx="3294202" cy="2156068"/>
            </a:xfrm>
          </p:grpSpPr>
          <p:pic>
            <p:nvPicPr>
              <p:cNvPr id="291" name="Google Shape;291;p46"/>
              <p:cNvPicPr preferRelativeResize="0"/>
              <p:nvPr/>
            </p:nvPicPr>
            <p:blipFill rotWithShape="1">
              <a:blip r:embed="rId4">
                <a:alphaModFix/>
              </a:blip>
              <a:srcRect l="1234"/>
              <a:stretch/>
            </p:blipFill>
            <p:spPr>
              <a:xfrm>
                <a:off x="5408025" y="1237357"/>
                <a:ext cx="3278775" cy="7175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2" name="Google Shape;292;p46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400313" y="2640675"/>
                <a:ext cx="3294202" cy="7527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3rd Persona: Carol</a:t>
            </a:r>
            <a:endParaRPr/>
          </a:p>
        </p:txBody>
      </p:sp>
      <p:sp>
        <p:nvSpPr>
          <p:cNvPr id="298" name="Google Shape;298;p4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Grandmother learning to use technology from grandkids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Macular degeneration causing tremors and limits reading capabilities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Has learned to enlarge text in browser</a:t>
            </a:r>
            <a:endParaRPr/>
          </a:p>
        </p:txBody>
      </p:sp>
      <p:pic>
        <p:nvPicPr>
          <p:cNvPr id="299" name="Google Shape;29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1227" y="2224550"/>
            <a:ext cx="2434875" cy="180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Accessibility Features for Carol </a:t>
            </a:r>
            <a:endParaRPr/>
          </a:p>
        </p:txBody>
      </p:sp>
      <p:sp>
        <p:nvSpPr>
          <p:cNvPr id="305" name="Google Shape;305;p4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Large text up to 150%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High contrast theme reduces strain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Large touch targets for buttons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Skip navigation links for content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Clear visual hierarchy with spacing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Settings persist across browser sessions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Extra padding on interactive elements</a:t>
            </a:r>
            <a:endParaRPr/>
          </a:p>
        </p:txBody>
      </p:sp>
      <p:grpSp>
        <p:nvGrpSpPr>
          <p:cNvPr id="306" name="Google Shape;306;p48"/>
          <p:cNvGrpSpPr/>
          <p:nvPr/>
        </p:nvGrpSpPr>
        <p:grpSpPr>
          <a:xfrm>
            <a:off x="5392588" y="1200157"/>
            <a:ext cx="3294202" cy="2156068"/>
            <a:chOff x="5400313" y="1237357"/>
            <a:chExt cx="3294202" cy="2156068"/>
          </a:xfrm>
        </p:grpSpPr>
        <p:pic>
          <p:nvPicPr>
            <p:cNvPr id="307" name="Google Shape;307;p48"/>
            <p:cNvPicPr preferRelativeResize="0"/>
            <p:nvPr/>
          </p:nvPicPr>
          <p:blipFill rotWithShape="1">
            <a:blip r:embed="rId3">
              <a:alphaModFix/>
            </a:blip>
            <a:srcRect l="1234"/>
            <a:stretch/>
          </p:blipFill>
          <p:spPr>
            <a:xfrm>
              <a:off x="5408025" y="1917700"/>
              <a:ext cx="3278775" cy="7527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8" name="Google Shape;308;p48"/>
            <p:cNvGrpSpPr/>
            <p:nvPr/>
          </p:nvGrpSpPr>
          <p:grpSpPr>
            <a:xfrm>
              <a:off x="5400313" y="1237357"/>
              <a:ext cx="3294202" cy="2156068"/>
              <a:chOff x="5400313" y="1237357"/>
              <a:chExt cx="3294202" cy="2156068"/>
            </a:xfrm>
          </p:grpSpPr>
          <p:pic>
            <p:nvPicPr>
              <p:cNvPr id="309" name="Google Shape;309;p48"/>
              <p:cNvPicPr preferRelativeResize="0"/>
              <p:nvPr/>
            </p:nvPicPr>
            <p:blipFill rotWithShape="1">
              <a:blip r:embed="rId4">
                <a:alphaModFix/>
              </a:blip>
              <a:srcRect l="1234"/>
              <a:stretch/>
            </p:blipFill>
            <p:spPr>
              <a:xfrm>
                <a:off x="5408025" y="1237357"/>
                <a:ext cx="3278775" cy="7175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0" name="Google Shape;310;p4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400313" y="2640675"/>
                <a:ext cx="3294202" cy="7527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9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/>
              <a:t>USABILITY REPORTS</a:t>
            </a:r>
            <a:endParaRPr/>
          </a:p>
        </p:txBody>
      </p:sp>
      <p:sp>
        <p:nvSpPr>
          <p:cNvPr id="316" name="Google Shape;316;p49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 dirty="0"/>
              <a:t>Lo-fi Prototyping</a:t>
            </a:r>
          </a:p>
        </p:txBody>
      </p:sp>
      <p:sp>
        <p:nvSpPr>
          <p:cNvPr id="322" name="Google Shape;322;p50"/>
          <p:cNvSpPr txBox="1">
            <a:spLocks noGrp="1"/>
          </p:cNvSpPr>
          <p:nvPr>
            <p:ph type="body" idx="1"/>
          </p:nvPr>
        </p:nvSpPr>
        <p:spPr>
          <a:xfrm>
            <a:off x="259995" y="955800"/>
            <a:ext cx="4663440" cy="398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1600" dirty="0"/>
              <a:t>Initial sketches for user flows</a:t>
            </a:r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1600" dirty="0"/>
              <a:t>Paper prototypes for </a:t>
            </a:r>
            <a:br>
              <a:rPr lang="en-US" sz="1600" dirty="0"/>
            </a:br>
            <a:r>
              <a:rPr lang="en-US" sz="1600" dirty="0"/>
              <a:t>menu navigation</a:t>
            </a:r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1600" dirty="0"/>
              <a:t>Basic POS interaction wireframes</a:t>
            </a:r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1600" dirty="0"/>
              <a:t>Customer kiosk layout concepts</a:t>
            </a:r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1600" dirty="0"/>
              <a:t>Manager dashboard </a:t>
            </a:r>
            <a:br>
              <a:rPr lang="en-US" sz="1600" dirty="0"/>
            </a:br>
            <a:r>
              <a:rPr lang="en-US" sz="1600" dirty="0"/>
              <a:t>structure planning</a:t>
            </a:r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1600" dirty="0"/>
              <a:t>Early accessibility </a:t>
            </a:r>
            <a:br>
              <a:rPr lang="en-US" sz="1600" dirty="0"/>
            </a:br>
            <a:r>
              <a:rPr lang="en-US" sz="1600" dirty="0"/>
              <a:t>feature considerations</a:t>
            </a:r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1600" dirty="0"/>
              <a:t>Rapid iteration without coding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51DA1A-C2EC-3EAE-99BC-DB24C6723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930" y="955800"/>
            <a:ext cx="5222075" cy="342480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Hi-fi Wireframes</a:t>
            </a:r>
            <a:endParaRPr/>
          </a:p>
        </p:txBody>
      </p:sp>
      <p:sp>
        <p:nvSpPr>
          <p:cNvPr id="328" name="Google Shape;328;p5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Figma designs for all interfaces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Complete component library created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Detailed POS cashier screen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Customer kiosk ordering flow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Manager dashboard with analytics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Accessibility controls panel design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Responsive layouts for mobile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244E52-2FAF-EAEB-6681-B559C86D0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592" y="895741"/>
            <a:ext cx="3404388" cy="384071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User Study Feedback</a:t>
            </a:r>
            <a:endParaRPr/>
          </a:p>
        </p:txBody>
      </p:sp>
      <p:sp>
        <p:nvSpPr>
          <p:cNvPr id="334" name="Google Shape;334;p5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Conducted accessibility-focused user testing</a:t>
            </a:r>
            <a:endParaRPr dirty="0"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Three personas tested all flows</a:t>
            </a:r>
            <a:endParaRPr dirty="0"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High-contrast mode validated positively</a:t>
            </a:r>
            <a:endParaRPr dirty="0"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Language toggle worked effectively</a:t>
            </a:r>
            <a:endParaRPr dirty="0"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Font size controls well-received</a:t>
            </a:r>
            <a:endParaRPr dirty="0"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Navigation found clear and intuitive</a:t>
            </a:r>
            <a:endParaRPr dirty="0"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Minor improvements identified and implemented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61D9D-87A0-AD95-2636-472FE827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56778"/>
            <a:ext cx="8229600" cy="8574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Georgia" panose="02040502050405020303" pitchFamily="18" charset="0"/>
              </a:rPr>
              <a:t>User Study – Key Questions &amp; Responses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7A23B7-5F23-5F87-C68E-BD820FB91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764310"/>
              </p:ext>
            </p:extLst>
          </p:nvPr>
        </p:nvGraphicFramePr>
        <p:xfrm>
          <a:off x="954313" y="1202995"/>
          <a:ext cx="7235373" cy="3550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1791">
                  <a:extLst>
                    <a:ext uri="{9D8B030D-6E8A-4147-A177-3AD203B41FA5}">
                      <a16:colId xmlns:a16="http://schemas.microsoft.com/office/drawing/2014/main" val="2049203250"/>
                    </a:ext>
                  </a:extLst>
                </a:gridCol>
                <a:gridCol w="2411791">
                  <a:extLst>
                    <a:ext uri="{9D8B030D-6E8A-4147-A177-3AD203B41FA5}">
                      <a16:colId xmlns:a16="http://schemas.microsoft.com/office/drawing/2014/main" val="2763965340"/>
                    </a:ext>
                  </a:extLst>
                </a:gridCol>
                <a:gridCol w="2411791">
                  <a:extLst>
                    <a:ext uri="{9D8B030D-6E8A-4147-A177-3AD203B41FA5}">
                      <a16:colId xmlns:a16="http://schemas.microsoft.com/office/drawing/2014/main" val="122163067"/>
                    </a:ext>
                  </a:extLst>
                </a:gridCol>
              </a:tblGrid>
              <a:tr h="46892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eorgia" panose="02040502050405020303" pitchFamily="18" charset="0"/>
                        </a:rP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eorgia" panose="02040502050405020303" pitchFamily="18" charset="0"/>
                        </a:rPr>
                        <a:t>Participant Response (Summary)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eorgia" panose="02040502050405020303" pitchFamily="18" charset="0"/>
                        </a:rPr>
                        <a:t>Insight / Action Taken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729733"/>
                  </a:ext>
                </a:extLst>
              </a:tr>
              <a:tr h="8373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effectLst/>
                          <a:latin typeface="Georgia" panose="02040502050405020303" pitchFamily="18" charset="0"/>
                        </a:rPr>
                        <a:t>How easy was it to read the text with the enlarge feature turned on?</a:t>
                      </a:r>
                    </a:p>
                    <a:p>
                      <a:pPr algn="l"/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Georgia" panose="02040502050405020303" pitchFamily="18" charset="0"/>
                        </a:rPr>
                        <a:t>“Much better, I could read everything without glasses.”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Georgia" panose="02040502050405020303" pitchFamily="18" charset="0"/>
                        </a:rPr>
                        <a:t>Font-size control validated, kept as-is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435039"/>
                  </a:ext>
                </a:extLst>
              </a:tr>
              <a:tr h="653146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Georgia" panose="02040502050405020303" pitchFamily="18" charset="0"/>
                        </a:rPr>
                        <a:t>Were the buttons and menu items easy to tap/select?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Georgia" panose="02040502050405020303" pitchFamily="18" charset="0"/>
                        </a:rPr>
                        <a:t>“Still a bit small and close together, I mis-tapped a few times.”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Georgia" panose="02040502050405020303" pitchFamily="18" charset="0"/>
                        </a:rPr>
                        <a:t>Increased button padding + minimum touch target to 48px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431643"/>
                  </a:ext>
                </a:extLst>
              </a:tr>
              <a:tr h="468925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Georgia" panose="02040502050405020303" pitchFamily="18" charset="0"/>
                        </a:rPr>
                        <a:t>Did the high-contrast mode help in different lighting?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Georgia" panose="02040502050405020303" pitchFamily="18" charset="0"/>
                        </a:rPr>
                        <a:t>“Yes, especially the dark version - very comfortable.”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Georgia" panose="02040502050405020303" pitchFamily="18" charset="0"/>
                        </a:rPr>
                        <a:t>Made tweaks for, otherwise kept as-is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484774"/>
                  </a:ext>
                </a:extLst>
              </a:tr>
              <a:tr h="468925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Georgia" panose="02040502050405020303" pitchFamily="18" charset="0"/>
                        </a:rPr>
                        <a:t>How intuitive was switching languages?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Georgia" panose="02040502050405020303" pitchFamily="18" charset="0"/>
                        </a:rPr>
                        <a:t>“Very easy, the icons made it obvious.”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Georgia" panose="02040502050405020303" pitchFamily="18" charset="0"/>
                        </a:rPr>
                        <a:t>Language toggle kept,  added tooltip labels across the site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69705"/>
                  </a:ext>
                </a:extLst>
              </a:tr>
              <a:tr h="653146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Georgia" panose="02040502050405020303" pitchFamily="18" charset="0"/>
                        </a:rPr>
                        <a:t>Overall, would you feel comfortable using this system daily?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Georgia" panose="02040502050405020303" pitchFamily="18" charset="0"/>
                        </a:rPr>
                        <a:t>“Yes, with the bigger buttons and contrast, definitely.”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Georgia" panose="02040502050405020303" pitchFamily="18" charset="0"/>
                        </a:rPr>
                        <a:t>Positive validation of accessibility direction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896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58563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3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/>
              <a:t>PROJECT MANAGEMENT</a:t>
            </a:r>
            <a:endParaRPr/>
          </a:p>
        </p:txBody>
      </p:sp>
      <p:sp>
        <p:nvSpPr>
          <p:cNvPr id="340" name="Google Shape;340;p53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/>
              <a:t>Product Backlog Summary</a:t>
            </a:r>
          </a:p>
        </p:txBody>
      </p:sp>
      <p:sp>
        <p:nvSpPr>
          <p:cNvPr id="346" name="Google Shape;346;p5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Total: 192 story points created</a:t>
            </a:r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Completed: 121 points</a:t>
            </a:r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Sprint 1: 58 points</a:t>
            </a:r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Sprint 2: 63 points</a:t>
            </a:r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Remaining: 71 points</a:t>
            </a:r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Status: On track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6A5A68-C6AB-FC61-EE42-B882AFB40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169" y="1705265"/>
            <a:ext cx="4489083" cy="296579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Sprint 1 Status</a:t>
            </a:r>
            <a:endParaRPr/>
          </a:p>
        </p:txBody>
      </p:sp>
      <p:sp>
        <p:nvSpPr>
          <p:cNvPr id="353" name="Google Shape;353;p5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Duration: Oct 26 - Nov 16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Points completed: 58 total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Velocity: 29 points/week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Tasks: 23 items completed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Zero tasks deferred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Foundation successfully built</a:t>
            </a:r>
            <a:endParaRPr/>
          </a:p>
        </p:txBody>
      </p:sp>
      <p:pic>
        <p:nvPicPr>
          <p:cNvPr id="354" name="Google Shape;35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7440" y="1200150"/>
            <a:ext cx="4056774" cy="24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Sprint 2 Outlook</a:t>
            </a:r>
            <a:endParaRPr/>
          </a:p>
        </p:txBody>
      </p:sp>
      <p:sp>
        <p:nvSpPr>
          <p:cNvPr id="360" name="Google Shape;360;p5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Duration: Nov 16 - Nov 24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Points completed: 63 total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Velocity: 31.5 points/week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Improvement: 8.6% over Sprint 1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All APIs integrated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UI features delivered</a:t>
            </a:r>
            <a:endParaRPr/>
          </a:p>
        </p:txBody>
      </p:sp>
      <p:pic>
        <p:nvPicPr>
          <p:cNvPr id="361" name="Google Shape;36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1530" y="1200150"/>
            <a:ext cx="3994375" cy="239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Sprint 3 Outlook</a:t>
            </a:r>
            <a:endParaRPr/>
          </a:p>
        </p:txBody>
      </p:sp>
      <p:sp>
        <p:nvSpPr>
          <p:cNvPr id="367" name="Google Shape;367;p5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Duration: Nov 24 - Dec 7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Target: 65-70 story points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Focus: Testing and deployment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Regression testing all features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Final UI polish</a:t>
            </a:r>
            <a:endParaRPr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Production deployment ready</a:t>
            </a:r>
            <a:endParaRPr/>
          </a:p>
        </p:txBody>
      </p:sp>
      <p:sp>
        <p:nvSpPr>
          <p:cNvPr id="368" name="Google Shape;368;p57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2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9" name="Google Shape;36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200" y="1200150"/>
            <a:ext cx="4038600" cy="2480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 dirty="0"/>
              <a:t>Overall Project Outlook</a:t>
            </a:r>
            <a:endParaRPr dirty="0"/>
          </a:p>
        </p:txBody>
      </p:sp>
      <p:sp>
        <p:nvSpPr>
          <p:cNvPr id="375" name="Google Shape;375;p5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314700" cy="3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77500" lnSpcReduction="20000"/>
          </a:bodyPr>
          <a:lstStyle/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Progress: 61% complete (121/192 points)</a:t>
            </a:r>
            <a:endParaRPr dirty="0"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Velocity: Steadily increasing</a:t>
            </a:r>
            <a:endParaRPr dirty="0"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Critical features: On schedule</a:t>
            </a:r>
            <a:endParaRPr dirty="0"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Accessibility: Close to completion</a:t>
            </a:r>
            <a:endParaRPr dirty="0"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Deployment: Sprint 3 target</a:t>
            </a:r>
            <a:endParaRPr dirty="0"/>
          </a:p>
          <a:p>
            <a:pPr marL="254000" lvl="0" indent="-2476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dirty="0"/>
              <a:t>Demo date: December 7</a:t>
            </a:r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EACA89A-1446-8F05-C959-5C1EE44C23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3593908"/>
              </p:ext>
            </p:extLst>
          </p:nvPr>
        </p:nvGraphicFramePr>
        <p:xfrm>
          <a:off x="3352800" y="930453"/>
          <a:ext cx="5049883" cy="3884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1E8CF2E-F0E2-D002-EF54-BFC33CAED9C8}"/>
              </a:ext>
            </a:extLst>
          </p:cNvPr>
          <p:cNvSpPr txBox="1"/>
          <p:nvPr/>
        </p:nvSpPr>
        <p:spPr>
          <a:xfrm>
            <a:off x="4114800" y="211545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DAFF57-D008-73CB-DA8A-15BEE39E09D1}"/>
              </a:ext>
            </a:extLst>
          </p:cNvPr>
          <p:cNvSpPr txBox="1"/>
          <p:nvPr/>
        </p:nvSpPr>
        <p:spPr>
          <a:xfrm>
            <a:off x="3609884" y="4523077"/>
            <a:ext cx="11411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Week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9B5D2A-119C-6DDE-C366-D56A3176C749}"/>
              </a:ext>
            </a:extLst>
          </p:cNvPr>
          <p:cNvSpPr txBox="1"/>
          <p:nvPr/>
        </p:nvSpPr>
        <p:spPr>
          <a:xfrm>
            <a:off x="5307148" y="4523077"/>
            <a:ext cx="11411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Week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C336E0-3F4A-108F-2C95-D9E1297FCD8F}"/>
              </a:ext>
            </a:extLst>
          </p:cNvPr>
          <p:cNvSpPr txBox="1"/>
          <p:nvPr/>
        </p:nvSpPr>
        <p:spPr>
          <a:xfrm>
            <a:off x="7004412" y="4523077"/>
            <a:ext cx="11411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Demo Day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9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/>
              <a:t>ADDITIONAL THOUGHTS</a:t>
            </a:r>
            <a:endParaRPr/>
          </a:p>
        </p:txBody>
      </p:sp>
      <p:sp>
        <p:nvSpPr>
          <p:cNvPr id="382" name="Google Shape;382;p59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388" name="Google Shape;388;p60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226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Best practices for production OAuth callback URLs?</a:t>
            </a:r>
            <a:endParaRPr sz="2100"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Recommendations for database migration strategies?</a:t>
            </a:r>
            <a:endParaRPr sz="2100"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Suggestions for load testing approach?</a:t>
            </a:r>
            <a:endParaRPr sz="2100"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Guidance on API rate limiting implementation?</a:t>
            </a:r>
            <a:endParaRPr sz="2100"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Feedback on our accessibility approach?</a:t>
            </a:r>
            <a:endParaRPr sz="2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Concerns</a:t>
            </a:r>
            <a:endParaRPr/>
          </a:p>
        </p:txBody>
      </p:sp>
      <p:sp>
        <p:nvSpPr>
          <p:cNvPr id="394" name="Google Shape;394;p61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Managing environment variables across platforms</a:t>
            </a:r>
            <a:endParaRPr sz="2100"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Database connection security in cloud environment</a:t>
            </a:r>
            <a:endParaRPr sz="2100"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OAuth flow testing in production</a:t>
            </a:r>
            <a:endParaRPr sz="2100"/>
          </a:p>
          <a:p>
            <a:pPr marL="254000" marR="0" lvl="0" indent="-247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Performance under expected load</a:t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TAMU Palette">
      <a:dk1>
        <a:srgbClr val="332C2C"/>
      </a:dk1>
      <a:lt1>
        <a:srgbClr val="FFFFFF"/>
      </a:lt1>
      <a:dk2>
        <a:srgbClr val="565252"/>
      </a:dk2>
      <a:lt2>
        <a:srgbClr val="D9D9D9"/>
      </a:lt2>
      <a:accent1>
        <a:srgbClr val="500000"/>
      </a:accent1>
      <a:accent2>
        <a:srgbClr val="1D3362"/>
      </a:accent2>
      <a:accent3>
        <a:srgbClr val="FFFFFF"/>
      </a:accent3>
      <a:accent4>
        <a:srgbClr val="D0D0D0"/>
      </a:accent4>
      <a:accent5>
        <a:srgbClr val="444040"/>
      </a:accent5>
      <a:accent6>
        <a:srgbClr val="000000"/>
      </a:accent6>
      <a:hlink>
        <a:srgbClr val="500000"/>
      </a:hlink>
      <a:folHlink>
        <a:srgbClr val="B0AFA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1305</Words>
  <Application>Microsoft Office PowerPoint</Application>
  <PresentationFormat>On-screen Show (16:9)</PresentationFormat>
  <Paragraphs>258</Paragraphs>
  <Slides>40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Georgia</vt:lpstr>
      <vt:lpstr>Old Standard TT</vt:lpstr>
      <vt:lpstr>Paperback</vt:lpstr>
      <vt:lpstr>Office Theme</vt:lpstr>
      <vt:lpstr>SwiftServe Ordering Platform - Team X1</vt:lpstr>
      <vt:lpstr>AGENDA</vt:lpstr>
      <vt:lpstr>Agenda</vt:lpstr>
      <vt:lpstr>MEMBER INTRODUCTIONS</vt:lpstr>
      <vt:lpstr>Team X1</vt:lpstr>
      <vt:lpstr>Full Stack: Hrudith</vt:lpstr>
      <vt:lpstr>Backend: Jhanghir</vt:lpstr>
      <vt:lpstr>Backend: Sudeep</vt:lpstr>
      <vt:lpstr>Frontend: Rahul S.</vt:lpstr>
      <vt:lpstr>Database &amp; API: Rahul G.</vt:lpstr>
      <vt:lpstr>UI/UX &amp; Testing: Nicholas</vt:lpstr>
      <vt:lpstr>PROBLEM STATEMENT</vt:lpstr>
      <vt:lpstr>Product Idea</vt:lpstr>
      <vt:lpstr>Project Details</vt:lpstr>
      <vt:lpstr>State-of-the-Art</vt:lpstr>
      <vt:lpstr>TECH STACK</vt:lpstr>
      <vt:lpstr>Frontend Development</vt:lpstr>
      <vt:lpstr>Backend Development</vt:lpstr>
      <vt:lpstr>Full Stack Development</vt:lpstr>
      <vt:lpstr>ACCESSIBILITY FEATURES</vt:lpstr>
      <vt:lpstr>1st Persona: Maria</vt:lpstr>
      <vt:lpstr>Accessibility Features for Maria </vt:lpstr>
      <vt:lpstr>2nd Persona: Vishnu</vt:lpstr>
      <vt:lpstr>Accessibility Features for Vishnu </vt:lpstr>
      <vt:lpstr>3rd Persona: Carol</vt:lpstr>
      <vt:lpstr>Accessibility Features for Carol </vt:lpstr>
      <vt:lpstr>USABILITY REPORTS</vt:lpstr>
      <vt:lpstr>Lo-fi Prototyping</vt:lpstr>
      <vt:lpstr>Hi-fi Wireframes</vt:lpstr>
      <vt:lpstr>User Study Feedback</vt:lpstr>
      <vt:lpstr>User Study – Key Questions &amp; Responses</vt:lpstr>
      <vt:lpstr>PROJECT MANAGEMENT</vt:lpstr>
      <vt:lpstr>Product Backlog Summary</vt:lpstr>
      <vt:lpstr>Sprint 1 Status</vt:lpstr>
      <vt:lpstr>Sprint 2 Outlook</vt:lpstr>
      <vt:lpstr>Sprint 3 Outlook</vt:lpstr>
      <vt:lpstr>Overall Project Outlook</vt:lpstr>
      <vt:lpstr>ADDITIONAL THOUGHTS</vt:lpstr>
      <vt:lpstr>Questions</vt:lpstr>
      <vt:lpstr>Concerns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Babar, Jhanghir</cp:lastModifiedBy>
  <cp:revision>10</cp:revision>
  <dcterms:modified xsi:type="dcterms:W3CDTF">2025-12-01T23:31:35Z</dcterms:modified>
</cp:coreProperties>
</file>